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2"/>
  </p:notesMasterIdLst>
  <p:sldIdLst>
    <p:sldId id="377" r:id="rId3"/>
    <p:sldId id="257" r:id="rId4"/>
    <p:sldId id="258" r:id="rId5"/>
    <p:sldId id="378" r:id="rId6"/>
    <p:sldId id="379" r:id="rId7"/>
    <p:sldId id="260" r:id="rId8"/>
    <p:sldId id="269" r:id="rId9"/>
    <p:sldId id="268" r:id="rId10"/>
    <p:sldId id="259" r:id="rId11"/>
    <p:sldId id="275" r:id="rId12"/>
    <p:sldId id="274" r:id="rId13"/>
    <p:sldId id="277" r:id="rId14"/>
    <p:sldId id="278" r:id="rId15"/>
    <p:sldId id="279" r:id="rId16"/>
    <p:sldId id="271" r:id="rId17"/>
    <p:sldId id="276" r:id="rId18"/>
    <p:sldId id="261" r:id="rId19"/>
    <p:sldId id="281" r:id="rId20"/>
    <p:sldId id="280" r:id="rId21"/>
    <p:sldId id="286" r:id="rId22"/>
    <p:sldId id="386" r:id="rId23"/>
    <p:sldId id="388" r:id="rId24"/>
    <p:sldId id="287" r:id="rId25"/>
    <p:sldId id="285" r:id="rId26"/>
    <p:sldId id="282" r:id="rId27"/>
    <p:sldId id="385" r:id="rId28"/>
    <p:sldId id="262" r:id="rId29"/>
    <p:sldId id="387" r:id="rId30"/>
    <p:sldId id="3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82900E-F39B-4FC6-9D83-FFF8BEF9B1F5}">
          <p14:sldIdLst>
            <p14:sldId id="377"/>
            <p14:sldId id="257"/>
          </p14:sldIdLst>
        </p14:section>
        <p14:section name="Intro" id="{09690C6B-855D-4611-8419-8442EA1B6613}">
          <p14:sldIdLst>
            <p14:sldId id="258"/>
            <p14:sldId id="378"/>
            <p14:sldId id="379"/>
            <p14:sldId id="260"/>
          </p14:sldIdLst>
        </p14:section>
        <p14:section name="Basic CLI rules/guidelines" id="{B714B30D-D410-448B-BA91-49203035C5D5}">
          <p14:sldIdLst>
            <p14:sldId id="269"/>
            <p14:sldId id="268"/>
            <p14:sldId id="259"/>
            <p14:sldId id="275"/>
            <p14:sldId id="274"/>
            <p14:sldId id="277"/>
            <p14:sldId id="278"/>
            <p14:sldId id="279"/>
            <p14:sldId id="271"/>
          </p14:sldIdLst>
        </p14:section>
        <p14:section name="Syntax building blocks" id="{FAFD8226-12FB-4349-B51E-E5222337FD91}">
          <p14:sldIdLst>
            <p14:sldId id="276"/>
          </p14:sldIdLst>
        </p14:section>
        <p14:section name="Designing your syntax" id="{AFFCEA86-6B11-408D-A5F2-80737FECD3EB}">
          <p14:sldIdLst>
            <p14:sldId id="261"/>
            <p14:sldId id="281"/>
            <p14:sldId id="280"/>
            <p14:sldId id="286"/>
            <p14:sldId id="386"/>
            <p14:sldId id="388"/>
            <p14:sldId id="287"/>
            <p14:sldId id="285"/>
            <p14:sldId id="282"/>
          </p14:sldIdLst>
        </p14:section>
        <p14:section name="CLI First &amp; Future" id="{76A82D75-E631-4A44-B3D8-88F709810EFA}">
          <p14:sldIdLst>
            <p14:sldId id="385"/>
            <p14:sldId id="262"/>
            <p14:sldId id="387"/>
            <p14:sldId id="3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D1C3"/>
    <a:srgbClr val="1D26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3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34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F3C1B-E2A9-4777-A5EB-950C8F9ADE1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FF6EBB-DF53-40D5-85B9-4C006E8DF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57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F6EBB-DF53-40D5-85B9-4C006E8DF85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19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3AE6-8AB5-A550-CD50-98A4A81C2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E622D-A0F3-22D3-3CDD-6B549C889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76C6F-01BB-520A-9B93-25F699AFE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5D94-0FB1-4D70-9A36-83B31B287B3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A99A3-38B0-AAC1-DAA4-517904A4B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DC4FE-311B-CD4A-8012-8D0442E2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F53-31ED-400C-952E-6FDC73E48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3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B9EDC-DA35-A8FB-7E57-C03741A4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22DC5-DC33-639D-D18E-75602D423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EE082-A8B2-DC53-355B-3E00A9C91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5D94-0FB1-4D70-9A36-83B31B287B3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73ABC-7793-2765-CD7B-6DB846F45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5E448-005A-58DC-1658-1BE9BF5C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F53-31ED-400C-952E-6FDC73E48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55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0DF6-CC64-2C91-4EE0-40D08BD76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B5E54-96C4-ACDD-9C6E-A4C39D456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7EB5F-11E6-62B8-E2F6-81265BC53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5D94-0FB1-4D70-9A36-83B31B287B3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9D9A2-7109-26B4-82EE-60D42D56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5CE8B-22D8-32D1-A927-D21FA51A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F53-31ED-400C-952E-6FDC73E48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95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E051-B52A-7DD7-E18F-DBF782595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DEBCF-BF6C-A466-2C4C-AFB0E5FE1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B151B-0163-51E7-A43D-AE730C574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6477A-BDE6-64DF-B0F0-62B62D4C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5D94-0FB1-4D70-9A36-83B31B287B3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7560B-98A0-321F-31F7-39772877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ECAAF-0AFD-6931-860E-1E2EA352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F53-31ED-400C-952E-6FDC73E48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4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585D-3C27-544D-6D8A-76CEB4248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F3415-39FD-A62B-B921-1895779D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81C5B-EC4C-4FCB-31FB-2B271707C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5B9DF-E362-F87F-1422-3B17487B94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C14F41-EC9E-A182-0843-34A805E9A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2F381D-2117-986B-4502-D13F89B9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5D94-0FB1-4D70-9A36-83B31B287B3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CF4070-276C-0207-2B4D-EC2FD59ED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502F8B-B8D2-C496-E0EF-B5194DD46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F53-31ED-400C-952E-6FDC73E48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58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F30DE-C30E-44FA-D235-C0F4382EC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9F52E-C8DD-DF18-D221-626B330B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5D94-0FB1-4D70-9A36-83B31B287B3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8D115-F2B0-0FA2-CDE0-FF67EF948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6DA1C-7077-46B0-C167-182A635C2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F53-31ED-400C-952E-6FDC73E48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3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EDFC3-1896-D071-D1DD-B035D68B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5D94-0FB1-4D70-9A36-83B31B287B3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71F78E-A655-5C87-F795-4AC80F8E8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CED59-6D3C-6413-B5AF-56F40B3CF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F53-31ED-400C-952E-6FDC73E48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8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1C06-7796-5812-4668-CE26DB5C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0EDD1-9489-5854-E24B-7F2116495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2DD92-66FF-F64C-6E43-8DDD283F0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3E873-4E3A-A3D1-CBA1-4B1AD415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5D94-0FB1-4D70-9A36-83B31B287B3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8EC79-4D5E-8D55-CF4F-28BFBBB97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EF7B8-01E0-E937-2F66-430B6AC8C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F53-31ED-400C-952E-6FDC73E48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05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49A96-86A6-5581-FC5D-0A311BFF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3CF8C2-2D6C-062A-9C00-472FCAB594B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42B12-E2B8-F79D-B04E-99494BF43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3FC7C-BB01-F04F-9FD3-B34D9CA8D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5D94-0FB1-4D70-9A36-83B31B287B3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4DB32-20C2-D42B-82E1-F1A8B1EF4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7507C-DE77-94E6-AD34-DA03F1996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F53-31ED-400C-952E-6FDC73E48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4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3FD1B-DAEE-D10B-C250-C01AD98E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E6E81E-C7ED-CFD8-DDBF-06C48B287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94F28-736D-2090-8B01-AC219B17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5D94-0FB1-4D70-9A36-83B31B287B3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07C9D-D802-2AC6-2EC9-3BFF530D8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72BFE-01BE-B6CD-6B7F-95B589242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F53-31ED-400C-952E-6FDC73E48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1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0F193C-14E9-DEF9-ADF2-A7F6E6EF19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186D8-0A8A-8D96-8F82-886F1F60D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FD895-23E4-282F-71B6-0DC124EA6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5D94-0FB1-4D70-9A36-83B31B287B3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2B290-E20D-589D-8B41-FB7A6D76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97FD9-77BA-6A1F-25A0-9D4F28423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2EF53-31ED-400C-952E-6FDC73E48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33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many symbols&#10;&#10;AI-generated content may be incorrect.">
            <a:extLst>
              <a:ext uri="{FF2B5EF4-FFF2-40B4-BE49-F238E27FC236}">
                <a16:creationId xmlns:a16="http://schemas.microsoft.com/office/drawing/2014/main" id="{1902EB1A-F536-DB1A-492A-25707A94E8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904"/>
            <a:ext cx="12184741" cy="6854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831022"/>
            <a:ext cx="9144000" cy="1544692"/>
          </a:xfrm>
        </p:spPr>
        <p:txBody>
          <a:bodyPr anchor="b">
            <a:normAutofit/>
          </a:bodyPr>
          <a:lstStyle>
            <a:lvl1pPr algn="ctr">
              <a:defRPr sz="48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20104"/>
            <a:ext cx="9144000" cy="6095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3" indent="0" algn="ctr">
              <a:buNone/>
              <a:defRPr sz="2000"/>
            </a:lvl2pPr>
            <a:lvl3pPr marL="914406" indent="0" algn="ctr">
              <a:buNone/>
              <a:defRPr sz="1800"/>
            </a:lvl3pPr>
            <a:lvl4pPr marL="1371609" indent="0" algn="ctr">
              <a:buNone/>
              <a:defRPr sz="1600"/>
            </a:lvl4pPr>
            <a:lvl5pPr marL="1828812" indent="0" algn="ctr">
              <a:buNone/>
              <a:defRPr sz="1600"/>
            </a:lvl5pPr>
            <a:lvl6pPr marL="2286015" indent="0" algn="ctr">
              <a:buNone/>
              <a:defRPr sz="1600"/>
            </a:lvl6pPr>
            <a:lvl7pPr marL="2743218" indent="0" algn="ctr">
              <a:buNone/>
              <a:defRPr sz="1600"/>
            </a:lvl7pPr>
            <a:lvl8pPr marL="3200421" indent="0" algn="ctr">
              <a:buNone/>
              <a:defRPr sz="1600"/>
            </a:lvl8pPr>
            <a:lvl9pPr marL="365762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A logo with a person on a horse&#10;&#10;AI-generated content may be incorrect.">
            <a:extLst>
              <a:ext uri="{FF2B5EF4-FFF2-40B4-BE49-F238E27FC236}">
                <a16:creationId xmlns:a16="http://schemas.microsoft.com/office/drawing/2014/main" id="{1E6685CF-7B29-FD32-9A4B-63C406585B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88189" y="669654"/>
            <a:ext cx="4608363" cy="267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75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649" y="433545"/>
            <a:ext cx="10886542" cy="873680"/>
          </a:xfrm>
        </p:spPr>
        <p:txBody>
          <a:bodyPr>
            <a:normAutofit/>
          </a:bodyPr>
          <a:lstStyle>
            <a:lvl1pPr>
              <a:defRPr sz="3992">
                <a:latin typeface="DS Wallau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648" y="1390172"/>
            <a:ext cx="10886542" cy="4685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7" name="Picture 16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4AAC9E8E-F608-A616-7B95-02FF086E95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62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A0BB3-6FC3-9CF4-57D9-439AD3A1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640C1-A33F-14CD-8928-A202D0955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3C04F-28D7-B789-F28C-32664600A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705D94-0FB1-4D70-9A36-83B31B287B3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F055F-4AE8-FD39-7299-D5F8151C7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3ABA6-79EE-0206-18F1-2464009EC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D2EF53-31ED-400C-952E-6FDC73E48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76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0630" y="202940"/>
            <a:ext cx="11465999" cy="873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630" y="1224770"/>
            <a:ext cx="11465999" cy="5022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A black and white image of a person riding a horse&#10;&#10;AI-generated content may be incorrect.">
            <a:extLst>
              <a:ext uri="{FF2B5EF4-FFF2-40B4-BE49-F238E27FC236}">
                <a16:creationId xmlns:a16="http://schemas.microsoft.com/office/drawing/2014/main" id="{1F8EBD09-8409-063F-2700-C2712DDAD6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6865270" y="107649"/>
            <a:ext cx="5326730" cy="685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27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S Wallau" panose="02000000000000000000" pitchFamily="2" charset="0"/>
          <a:ea typeface="+mj-ea"/>
          <a:cs typeface="+mj-cs"/>
        </a:defRPr>
      </a:lvl1pPr>
    </p:titleStyle>
    <p:bodyStyle>
      <a:lvl1pPr marL="228602" indent="-228602" algn="l" defTabSz="91440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legreya Medium" pitchFamily="2" charset="0"/>
          <a:ea typeface="+mn-ea"/>
          <a:cs typeface="+mn-cs"/>
        </a:defRPr>
      </a:lvl1pPr>
      <a:lvl2pPr marL="685804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legreya Medium" pitchFamily="2" charset="0"/>
          <a:ea typeface="+mn-ea"/>
          <a:cs typeface="+mn-cs"/>
        </a:defRPr>
      </a:lvl2pPr>
      <a:lvl3pPr marL="1143008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legreya Medium" pitchFamily="2" charset="0"/>
          <a:ea typeface="+mn-ea"/>
          <a:cs typeface="+mn-cs"/>
        </a:defRPr>
      </a:lvl3pPr>
      <a:lvl4pPr marL="1600210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legreya Medium" pitchFamily="2" charset="0"/>
          <a:ea typeface="+mn-ea"/>
          <a:cs typeface="+mn-cs"/>
        </a:defRPr>
      </a:lvl4pPr>
      <a:lvl5pPr marL="2057413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legreya Medium" pitchFamily="2" charset="0"/>
          <a:ea typeface="+mn-ea"/>
          <a:cs typeface="+mn-cs"/>
        </a:defRPr>
      </a:lvl5pPr>
      <a:lvl6pPr marL="2514617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19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23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25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6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9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2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5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8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1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4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Z6e5ZP9y3_8&amp;t=1200s" TargetMode="External"/><Relationship Id="rId3" Type="http://schemas.openxmlformats.org/officeDocument/2006/relationships/hyperlink" Target="mailto:Kathleen.A.Dollard@gmail.com" TargetMode="External"/><Relationship Id="rId7" Type="http://schemas.openxmlformats.org/officeDocument/2006/relationships/hyperlink" Target="https://github.com/KathleenDollard/DragonFruit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ectreconsole.net/cli/" TargetMode="External"/><Relationship Id="rId5" Type="http://schemas.openxmlformats.org/officeDocument/2006/relationships/hyperlink" Target="https://www.nuget.org/packages/System.CommandLine" TargetMode="External"/><Relationship Id="rId4" Type="http://schemas.openxmlformats.org/officeDocument/2006/relationships/hyperlink" Target="https://github.com/KathleenDollard/GreatCli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6.jpg"/><Relationship Id="rId7" Type="http://schemas.openxmlformats.org/officeDocument/2006/relationships/image" Target="../media/image18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11.jpeg"/><Relationship Id="rId10" Type="http://schemas.openxmlformats.org/officeDocument/2006/relationships/image" Target="../media/image21.jpg"/><Relationship Id="rId4" Type="http://schemas.openxmlformats.org/officeDocument/2006/relationships/image" Target="../media/image17.jpeg"/><Relationship Id="rId9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7C2A-6C73-042C-0E75-1A2E6FF8F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31022"/>
            <a:ext cx="9144000" cy="926035"/>
          </a:xfrm>
        </p:spPr>
        <p:txBody>
          <a:bodyPr>
            <a:normAutofit/>
          </a:bodyPr>
          <a:lstStyle/>
          <a:p>
            <a:r>
              <a:rPr lang="en-US" sz="5400" dirty="0"/>
              <a:t>Creating great CLIs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9F9FE-AF3B-10F8-E13D-C236930C2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57462"/>
            <a:ext cx="9144000" cy="864367"/>
          </a:xfrm>
        </p:spPr>
        <p:txBody>
          <a:bodyPr>
            <a:normAutofit fontScale="85000" lnSpcReduction="20000"/>
          </a:bodyPr>
          <a:lstStyle/>
          <a:p>
            <a:r>
              <a:rPr lang="en-US" sz="4400" b="1" dirty="0">
                <a:solidFill>
                  <a:srgbClr val="E1D1C3"/>
                </a:solidFill>
              </a:rPr>
              <a:t>Kathleen Dollard</a:t>
            </a:r>
          </a:p>
          <a:p>
            <a:r>
              <a:rPr lang="en-US" dirty="0">
                <a:solidFill>
                  <a:srgbClr val="E1D1C3"/>
                </a:solidFill>
              </a:rPr>
              <a:t>.NET Connoisseur</a:t>
            </a:r>
          </a:p>
          <a:p>
            <a:endParaRPr lang="en-US" dirty="0">
              <a:solidFill>
                <a:srgbClr val="E1D1C3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42B50A-E7DE-52CB-290B-34C28AE59EBF}"/>
              </a:ext>
            </a:extLst>
          </p:cNvPr>
          <p:cNvCxnSpPr/>
          <p:nvPr/>
        </p:nvCxnSpPr>
        <p:spPr>
          <a:xfrm>
            <a:off x="2106386" y="4757057"/>
            <a:ext cx="8039100" cy="59872"/>
          </a:xfrm>
          <a:prstGeom prst="line">
            <a:avLst/>
          </a:prstGeom>
          <a:ln>
            <a:solidFill>
              <a:srgbClr val="E1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22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C343A-67BB-1BCA-0E84-20B977CC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C805E-F8B1-AC60-116E-93E29239D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CLIs are ubiquitous – and they have never been more important.</a:t>
            </a:r>
          </a:p>
          <a:p>
            <a:r>
              <a:rPr lang="en-US" dirty="0"/>
              <a:t>Your guide….NET CLI…</a:t>
            </a:r>
            <a:r>
              <a:rPr lang="en-US" dirty="0" err="1"/>
              <a:t>System.CommandLine</a:t>
            </a:r>
            <a:endParaRPr lang="en-US" dirty="0"/>
          </a:p>
          <a:p>
            <a:r>
              <a:rPr lang="en-US" dirty="0"/>
              <a:t>has guided many people in CLI design. </a:t>
            </a:r>
          </a:p>
          <a:p>
            <a:r>
              <a:rPr lang="en-US" dirty="0"/>
              <a:t>…all CLIs…are languages – domain specific languages or DSLs. </a:t>
            </a:r>
          </a:p>
          <a:p>
            <a:r>
              <a:rPr lang="en-US" dirty="0"/>
              <a:t>They…have a special gift for you and your users of strong user expectations leading to fewer decisions for you</a:t>
            </a:r>
          </a:p>
          <a:p>
            <a:r>
              <a:rPr lang="en-US" dirty="0"/>
              <a:t>Looking to the future, CLI First design strategy results in human and AI friendly interfaces that are easy to explore and a good basis for modeling APIs</a:t>
            </a:r>
          </a:p>
        </p:txBody>
      </p:sp>
    </p:spTree>
    <p:extLst>
      <p:ext uri="{BB962C8B-B14F-4D97-AF65-F5344CB8AC3E}">
        <p14:creationId xmlns:p14="http://schemas.microsoft.com/office/powerpoint/2010/main" val="113990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9771-04E0-E454-EE70-1A3FBFEED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DB5BD-A77D-3CC6-545F-F1DDC918D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  <a:p>
            <a:r>
              <a:rPr lang="en-US" dirty="0"/>
              <a:t>Basic CLI rules/guidelines</a:t>
            </a:r>
          </a:p>
          <a:p>
            <a:r>
              <a:rPr lang="en-US" dirty="0"/>
              <a:t>Syntax building blocks &amp; using </a:t>
            </a:r>
            <a:r>
              <a:rPr lang="en-US" dirty="0" err="1"/>
              <a:t>System.CommandLine</a:t>
            </a:r>
            <a:endParaRPr lang="en-US" dirty="0"/>
          </a:p>
          <a:p>
            <a:r>
              <a:rPr lang="en-US" dirty="0"/>
              <a:t>Designing your syntax</a:t>
            </a:r>
          </a:p>
          <a:p>
            <a:r>
              <a:rPr lang="en-US" dirty="0"/>
              <a:t>CLI First</a:t>
            </a:r>
          </a:p>
          <a:p>
            <a:r>
              <a:rPr lang="en-US" dirty="0"/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1527888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879447-AF3C-E420-6B62-A4809F51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Who am I?</a:t>
            </a:r>
          </a:p>
        </p:txBody>
      </p:sp>
      <p:pic>
        <p:nvPicPr>
          <p:cNvPr id="6" name="Picture 5" descr="Wood human figure">
            <a:extLst>
              <a:ext uri="{FF2B5EF4-FFF2-40B4-BE49-F238E27FC236}">
                <a16:creationId xmlns:a16="http://schemas.microsoft.com/office/drawing/2014/main" id="{FAB2346E-0EFB-8B5C-9E3C-65F45013ED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962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25574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E486FF-B34E-2805-CDA0-A51C09DC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24" y="798704"/>
            <a:ext cx="5660523" cy="178517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you care about creating CLIs?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02EDE8-0A01-0475-9325-5FA8A5F76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243" y="1883737"/>
            <a:ext cx="4939504" cy="2707579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70793-4BFF-90D9-EC69-BDB8BBD40547}"/>
              </a:ext>
            </a:extLst>
          </p:cNvPr>
          <p:cNvSpPr txBox="1"/>
          <p:nvPr/>
        </p:nvSpPr>
        <p:spPr>
          <a:xfrm>
            <a:off x="1015457" y="2873743"/>
            <a:ext cx="4552785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Easy access to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Friendly to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Early demos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Testing and debugging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Common patterns (POSIX)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Scriptable</a:t>
            </a:r>
          </a:p>
        </p:txBody>
      </p:sp>
    </p:spTree>
    <p:extLst>
      <p:ext uri="{BB962C8B-B14F-4D97-AF65-F5344CB8AC3E}">
        <p14:creationId xmlns:p14="http://schemas.microsoft.com/office/powerpoint/2010/main" val="3089169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2E78-68ED-AE12-6529-B117255BC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F9E6D-205B-02BF-B1C6-459430AB0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486275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hlinkClick r:id="rId3"/>
              </a:rPr>
              <a:t>Kathleen.A.Dollard@gmail.com</a:t>
            </a:r>
            <a:br>
              <a:rPr lang="en-US" sz="2400" dirty="0"/>
            </a:br>
            <a:r>
              <a:rPr lang="en-US" sz="2400" dirty="0">
                <a:solidFill>
                  <a:srgbClr val="7030A0"/>
                </a:solidFill>
              </a:rPr>
              <a:t>Slides at:</a:t>
            </a:r>
            <a:r>
              <a:rPr lang="en-US" sz="2400" dirty="0"/>
              <a:t> </a:t>
            </a:r>
            <a:r>
              <a:rPr lang="en-US" sz="2400" dirty="0">
                <a:hlinkClick r:id="rId4"/>
              </a:rPr>
              <a:t>https://github.com/KathleenDollard/GreatCli</a:t>
            </a:r>
            <a:endParaRPr lang="en-US" sz="2400" dirty="0"/>
          </a:p>
          <a:p>
            <a:r>
              <a:rPr lang="en-US" sz="2400" b="1" dirty="0" err="1"/>
              <a:t>System.CommandLine</a:t>
            </a:r>
            <a:r>
              <a:rPr lang="en-US" sz="2400" b="1" dirty="0"/>
              <a:t>,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7030A0"/>
                </a:solidFill>
              </a:rPr>
              <a:t>the parser used by the .NET CLI &amp; most .NET Tools</a:t>
            </a:r>
            <a:r>
              <a:rPr lang="en-US" sz="2400" dirty="0"/>
              <a:t>,</a:t>
            </a:r>
            <a:r>
              <a:rPr lang="en-US" sz="2400" b="1" dirty="0"/>
              <a:t> </a:t>
            </a:r>
            <a:r>
              <a:rPr lang="en-US" sz="2400" dirty="0">
                <a:hlinkClick r:id="rId5"/>
              </a:rPr>
              <a:t>https://www.nuget.org/packages/System.CommandLine</a:t>
            </a:r>
            <a:endParaRPr lang="en-US" sz="2400" dirty="0"/>
          </a:p>
          <a:p>
            <a:r>
              <a:rPr lang="en-US" sz="2400" b="1" dirty="0" err="1"/>
              <a:t>Spectre.Console.Cli</a:t>
            </a:r>
            <a:r>
              <a:rPr lang="en-US" sz="2400" b="1" dirty="0"/>
              <a:t>, </a:t>
            </a:r>
            <a:r>
              <a:rPr lang="en-US" sz="2400" dirty="0">
                <a:solidFill>
                  <a:srgbClr val="7030A0"/>
                </a:solidFill>
              </a:rPr>
              <a:t>third party parser which also has awesome widgets</a:t>
            </a:r>
            <a:r>
              <a:rPr lang="en-US" sz="2400" dirty="0"/>
              <a:t>, </a:t>
            </a:r>
            <a:r>
              <a:rPr lang="en-US" sz="2400" dirty="0">
                <a:hlinkClick r:id="rId6"/>
              </a:rPr>
              <a:t>https://spectreconsole.net/cli/</a:t>
            </a:r>
            <a:r>
              <a:rPr lang="en-US" sz="2400" dirty="0"/>
              <a:t> </a:t>
            </a:r>
          </a:p>
          <a:p>
            <a:r>
              <a:rPr lang="en-US" sz="2400" b="1" dirty="0"/>
              <a:t>Cocona, </a:t>
            </a:r>
            <a:r>
              <a:rPr lang="en-US" sz="2400" dirty="0">
                <a:solidFill>
                  <a:srgbClr val="7030A0"/>
                </a:solidFill>
              </a:rPr>
              <a:t>now archived, nice UI but apparently will get no security updates</a:t>
            </a:r>
          </a:p>
          <a:p>
            <a:r>
              <a:rPr lang="en-US" sz="2400" b="1" dirty="0"/>
              <a:t>DragonFruit2, </a:t>
            </a:r>
            <a:r>
              <a:rPr lang="en-US" sz="2400" dirty="0">
                <a:solidFill>
                  <a:srgbClr val="7030A0"/>
                </a:solidFill>
              </a:rPr>
              <a:t>wrapper for </a:t>
            </a:r>
            <a:r>
              <a:rPr lang="en-US" sz="2400" dirty="0" err="1">
                <a:solidFill>
                  <a:srgbClr val="7030A0"/>
                </a:solidFill>
              </a:rPr>
              <a:t>System.CommandLine</a:t>
            </a:r>
            <a:r>
              <a:rPr lang="en-US" sz="2400" dirty="0">
                <a:solidFill>
                  <a:srgbClr val="7030A0"/>
                </a:solidFill>
              </a:rPr>
              <a:t> that replaces API calls with Roslyn generation from classes and methods – in early development</a:t>
            </a:r>
            <a:r>
              <a:rPr lang="en-US" sz="2400" dirty="0"/>
              <a:t>, </a:t>
            </a:r>
            <a:r>
              <a:rPr lang="en-US" sz="2400" dirty="0">
                <a:hlinkClick r:id="rId7"/>
              </a:rPr>
              <a:t>https://github.com/KathleenDollard/DragonFruit2</a:t>
            </a:r>
            <a:r>
              <a:rPr lang="en-US" sz="2400" dirty="0"/>
              <a:t> </a:t>
            </a:r>
            <a:endParaRPr lang="en-US" sz="2400" b="1" dirty="0"/>
          </a:p>
          <a:p>
            <a:r>
              <a:rPr lang="en-US" sz="2400" b="1" dirty="0"/>
              <a:t>TUIs are back…, </a:t>
            </a:r>
            <a:r>
              <a:rPr lang="en-US" sz="2400" dirty="0"/>
              <a:t>Andres Pineda, </a:t>
            </a:r>
            <a:r>
              <a:rPr lang="en-US" sz="2400" dirty="0">
                <a:solidFill>
                  <a:srgbClr val="7030A0"/>
                </a:solidFill>
              </a:rPr>
              <a:t>GUI like terminal </a:t>
            </a:r>
            <a:r>
              <a:rPr lang="en-US" sz="2400" dirty="0" err="1">
                <a:solidFill>
                  <a:srgbClr val="7030A0"/>
                </a:solidFill>
              </a:rPr>
              <a:t>interface,s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dirty="0">
                <a:hlinkClick r:id="rId8"/>
              </a:rPr>
              <a:t>https://www.youtube.com/watch?v=Z6e5ZP9y3_8&amp;t=1200s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11265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4" descr="Trophy against golden sky background">
            <a:extLst>
              <a:ext uri="{FF2B5EF4-FFF2-40B4-BE49-F238E27FC236}">
                <a16:creationId xmlns:a16="http://schemas.microsoft.com/office/drawing/2014/main" id="{83D1EC23-DB4B-80E0-3306-69CE90FC9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B7D3908-3327-2FD4-4A61-933CB5555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8508" y="843063"/>
            <a:ext cx="3445766" cy="1997413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4400" dirty="0"/>
              <a:t>It won</a:t>
            </a:r>
          </a:p>
          <a:p>
            <a:pPr marL="0" indent="0">
              <a:buNone/>
            </a:pPr>
            <a:r>
              <a:rPr lang="en-US" sz="2400" dirty="0"/>
              <a:t>POSIX is the standard behind almost all CLIs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72F33A-4ADB-CDF5-F5DC-3FFFFD2A4015}"/>
              </a:ext>
            </a:extLst>
          </p:cNvPr>
          <p:cNvSpPr txBox="1"/>
          <p:nvPr/>
        </p:nvSpPr>
        <p:spPr>
          <a:xfrm>
            <a:off x="7064017" y="4355611"/>
            <a:ext cx="4866725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err="1"/>
              <a:t>System.CommandLine</a:t>
            </a:r>
            <a:r>
              <a:rPr lang="en-US" sz="2400" dirty="0"/>
              <a:t> for public CLIs because it matches the POSIX interpretation in the .NET CLI</a:t>
            </a:r>
          </a:p>
          <a:p>
            <a:endParaRPr lang="en-US" sz="2400" dirty="0"/>
          </a:p>
          <a:p>
            <a:r>
              <a:rPr lang="en-US" sz="2400" dirty="0" err="1"/>
              <a:t>Spectre.Console</a:t>
            </a:r>
            <a:r>
              <a:rPr lang="en-US" sz="2400" dirty="0"/>
              <a:t> is also quite good</a:t>
            </a:r>
          </a:p>
        </p:txBody>
      </p:sp>
      <p:sp>
        <p:nvSpPr>
          <p:cNvPr id="14" name="Overlay">
            <a:extLst>
              <a:ext uri="{FF2B5EF4-FFF2-40B4-BE49-F238E27FC236}">
                <a16:creationId xmlns:a16="http://schemas.microsoft.com/office/drawing/2014/main" id="{D959A522-0CEF-7352-7ED6-4CA0C0F286AD}"/>
              </a:ext>
            </a:extLst>
          </p:cNvPr>
          <p:cNvSpPr txBox="1">
            <a:spLocks/>
          </p:cNvSpPr>
          <p:nvPr/>
        </p:nvSpPr>
        <p:spPr>
          <a:xfrm>
            <a:off x="701462" y="419192"/>
            <a:ext cx="3445765" cy="172737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200">
                <a:solidFill>
                  <a:srgbClr val="1D2645"/>
                </a:solidFill>
              </a:rPr>
              <a:t>Use POSIX standard</a:t>
            </a:r>
            <a:endParaRPr lang="en-US" sz="5200" dirty="0">
              <a:solidFill>
                <a:srgbClr val="1D264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E35D3-03E9-6350-8223-7AB2C71DB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508" y="419192"/>
            <a:ext cx="3445765" cy="172737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200" dirty="0">
                <a:solidFill>
                  <a:schemeClr val="bg1"/>
                </a:solidFill>
              </a:rPr>
              <a:t>Use POSIX standard</a:t>
            </a:r>
          </a:p>
        </p:txBody>
      </p:sp>
    </p:spTree>
    <p:extLst>
      <p:ext uri="{BB962C8B-B14F-4D97-AF65-F5344CB8AC3E}">
        <p14:creationId xmlns:p14="http://schemas.microsoft.com/office/powerpoint/2010/main" val="91032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/>
      <p:bldP spid="13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D7DE60-FC4B-F6BC-B83C-FA52284E2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ncil drawing a line on a white surface">
            <a:extLst>
              <a:ext uri="{FF2B5EF4-FFF2-40B4-BE49-F238E27FC236}">
                <a16:creationId xmlns:a16="http://schemas.microsoft.com/office/drawing/2014/main" id="{5E1A5859-6EB8-A81A-D542-0E3715A951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6EE3E7-ACD4-155E-0DFC-88451D3BD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87" y="827754"/>
            <a:ext cx="4540157" cy="182465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/>
              <a:t>Do not write a CLI parser!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FFBE9-9A53-EC3C-D080-8B642917B17D}"/>
              </a:ext>
            </a:extLst>
          </p:cNvPr>
          <p:cNvSpPr txBox="1"/>
          <p:nvPr/>
        </p:nvSpPr>
        <p:spPr>
          <a:xfrm>
            <a:off x="6376790" y="3722452"/>
            <a:ext cx="54001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There are good ones, </a:t>
            </a:r>
            <a:br>
              <a:rPr lang="en-US" sz="2800" dirty="0"/>
            </a:br>
            <a:r>
              <a:rPr lang="en-US" sz="2800" dirty="0"/>
              <a:t>including those in Resources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223161-CB81-3561-9983-3D5789712749}"/>
              </a:ext>
            </a:extLst>
          </p:cNvPr>
          <p:cNvSpPr txBox="1"/>
          <p:nvPr/>
        </p:nvSpPr>
        <p:spPr>
          <a:xfrm>
            <a:off x="3701684" y="4867073"/>
            <a:ext cx="8075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Getting POSIX correct is harder than you think</a:t>
            </a:r>
          </a:p>
        </p:txBody>
      </p:sp>
    </p:spTree>
    <p:extLst>
      <p:ext uri="{BB962C8B-B14F-4D97-AF65-F5344CB8AC3E}">
        <p14:creationId xmlns:p14="http://schemas.microsoft.com/office/powerpoint/2010/main" val="1336547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91030-C2F0-5B0A-8591-B34DAD436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CLIs can never change, but can be extended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26289-4B58-8053-794B-413A39455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723306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Expect your CLI to be used in scripts</a:t>
            </a:r>
          </a:p>
          <a:p>
            <a:pPr marL="0" indent="0">
              <a:buNone/>
            </a:pPr>
            <a:r>
              <a:rPr lang="en-US" sz="2400" dirty="0"/>
              <a:t>You will not know who wrote scripts</a:t>
            </a:r>
          </a:p>
          <a:p>
            <a:pPr marL="0" indent="0">
              <a:buNone/>
            </a:pPr>
            <a:r>
              <a:rPr lang="en-US" sz="2400" dirty="0"/>
              <a:t>Scripts will break if you change your CLI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000" dirty="0"/>
              <a:t>This may not apply to in-house or personal scripts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 descr="Connection concepts with climbing ropes">
            <a:extLst>
              <a:ext uri="{FF2B5EF4-FFF2-40B4-BE49-F238E27FC236}">
                <a16:creationId xmlns:a16="http://schemas.microsoft.com/office/drawing/2014/main" id="{DBA0AB91-ECB9-5DAE-7972-AA0B95EBD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6" r="-1" b="-1"/>
          <a:stretch>
            <a:fillRect/>
          </a:stretch>
        </p:blipFill>
        <p:spPr>
          <a:xfrm rot="5400000">
            <a:off x="6090456" y="756455"/>
            <a:ext cx="6868886" cy="5334204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108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DFF71-CFA7-1431-B21E-EC433C2C1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DDE5277-1A40-9BD3-A867-C68DFBC0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Respect </a:t>
            </a:r>
            <a:r>
              <a:rPr lang="en-US" sz="3200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stdout</a:t>
            </a:r>
            <a:r>
              <a:rPr lang="en-US" dirty="0"/>
              <a:t> and 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stderr</a:t>
            </a:r>
            <a:endParaRPr lang="en-US" sz="4000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A8E3FDE-65AC-A640-5AF0-A7CC87729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535" y="4508760"/>
            <a:ext cx="5181600" cy="16491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Limit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stdout</a:t>
            </a:r>
            <a:r>
              <a:rPr lang="en-US" dirty="0"/>
              <a:t> to data output</a:t>
            </a:r>
          </a:p>
          <a:p>
            <a:r>
              <a:rPr lang="en-US" sz="1900" dirty="0"/>
              <a:t>It may be piped to another command</a:t>
            </a:r>
          </a:p>
          <a:p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Console.WriteLine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(</a:t>
            </a:r>
            <a:r>
              <a:rPr lang="en-US" sz="1600" dirty="0"/>
              <a:t>…</a:t>
            </a:r>
          </a:p>
          <a:p>
            <a:r>
              <a:rPr lang="en-US" sz="1900" dirty="0"/>
              <a:t>Consider a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--debug </a:t>
            </a:r>
            <a:r>
              <a:rPr lang="en-US" sz="1900" dirty="0"/>
              <a:t>switch for extra output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AA374B3-65B8-3512-8DF7-718A32C5B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8154" y="4508758"/>
            <a:ext cx="5659876" cy="1397439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dirty="0"/>
              <a:t>Limit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stderr</a:t>
            </a:r>
            <a:r>
              <a:rPr lang="en-US" dirty="0"/>
              <a:t> to warnings and errors</a:t>
            </a:r>
          </a:p>
          <a:p>
            <a:r>
              <a:rPr lang="en-US" sz="1900" dirty="0"/>
              <a:t>Also, return zero for success and </a:t>
            </a:r>
            <a:br>
              <a:rPr lang="en-US" sz="1900" dirty="0"/>
            </a:br>
            <a:r>
              <a:rPr lang="en-US" sz="1900" dirty="0"/>
              <a:t>non-zero when there are errors</a:t>
            </a:r>
          </a:p>
          <a:p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Console.Error.WriteLine</a:t>
            </a:r>
            <a:r>
              <a:rPr lang="en-US" sz="1600" dirty="0"/>
              <a:t>(…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5" name="Picture 14" descr="A teddy bear">
            <a:extLst>
              <a:ext uri="{FF2B5EF4-FFF2-40B4-BE49-F238E27FC236}">
                <a16:creationId xmlns:a16="http://schemas.microsoft.com/office/drawing/2014/main" id="{77DF2672-855F-B724-0FA6-4D74AD6F9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5" t="21139" r="3239" b="2320"/>
          <a:stretch>
            <a:fillRect/>
          </a:stretch>
        </p:blipFill>
        <p:spPr>
          <a:xfrm>
            <a:off x="909535" y="1454077"/>
            <a:ext cx="5047021" cy="2941702"/>
          </a:xfrm>
          <a:prstGeom prst="rect">
            <a:avLst/>
          </a:prstGeom>
        </p:spPr>
      </p:pic>
      <p:pic>
        <p:nvPicPr>
          <p:cNvPr id="17" name="Picture 16" descr="Damaged teddy bear">
            <a:extLst>
              <a:ext uri="{FF2B5EF4-FFF2-40B4-BE49-F238E27FC236}">
                <a16:creationId xmlns:a16="http://schemas.microsoft.com/office/drawing/2014/main" id="{E6BE33E3-8383-40EA-D85A-0A3DD3D8B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" t="15121" r="22646" b="8387"/>
          <a:stretch>
            <a:fillRect/>
          </a:stretch>
        </p:blipFill>
        <p:spPr>
          <a:xfrm>
            <a:off x="6201386" y="1454076"/>
            <a:ext cx="4990289" cy="294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88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/>
      <p:bldP spid="13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EA40C-8FFB-AC2B-2C96-4302857C0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Dog under snow">
            <a:extLst>
              <a:ext uri="{FF2B5EF4-FFF2-40B4-BE49-F238E27FC236}">
                <a16:creationId xmlns:a16="http://schemas.microsoft.com/office/drawing/2014/main" id="{FBD8CB04-1F41-3861-FC0A-142FDBBF92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3" t="16728" r="2" b="19879"/>
          <a:stretch>
            <a:fillRect/>
          </a:stretch>
        </p:blipFill>
        <p:spPr>
          <a:xfrm>
            <a:off x="0" y="-1"/>
            <a:ext cx="12192000" cy="6917635"/>
          </a:xfrm>
        </p:spPr>
      </p:pic>
      <p:pic>
        <p:nvPicPr>
          <p:cNvPr id="12" name="Picture 11" descr="The image shows a Windows PowerShell command prompt window with a list of commands for managing .NET tools.&#10;&#10;AI-generated content may be incorrect.">
            <a:extLst>
              <a:ext uri="{FF2B5EF4-FFF2-40B4-BE49-F238E27FC236}">
                <a16:creationId xmlns:a16="http://schemas.microsoft.com/office/drawing/2014/main" id="{58E73C88-6D7A-89CA-37BB-7382091342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8" t="1637" r="38914" b="4574"/>
          <a:stretch>
            <a:fillRect/>
          </a:stretch>
        </p:blipFill>
        <p:spPr>
          <a:xfrm>
            <a:off x="5685605" y="2519916"/>
            <a:ext cx="6506395" cy="43977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6DBC45B-4A6E-E9DA-D067-675B4AC9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5400" dirty="0"/>
              <a:t>Help is essential</a:t>
            </a:r>
          </a:p>
        </p:txBody>
      </p:sp>
    </p:spTree>
    <p:extLst>
      <p:ext uri="{BB962C8B-B14F-4D97-AF65-F5344CB8AC3E}">
        <p14:creationId xmlns:p14="http://schemas.microsoft.com/office/powerpoint/2010/main" val="387951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F0E49-7277-EA5A-F053-1115FE4A7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Isolate your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0EFE-7DC3-D74C-B93F-3F8C7680A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0640" y="1798161"/>
            <a:ext cx="9745980" cy="4351338"/>
          </a:xfrm>
        </p:spPr>
        <p:txBody>
          <a:bodyPr/>
          <a:lstStyle/>
          <a:p>
            <a:r>
              <a:rPr lang="en-US" dirty="0"/>
              <a:t>Generally, with a Library project for functionality and a Console project for the parser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Skip this for near-trivial CLIs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FE9228-852E-FD1E-DEF3-BC6118A3DC0E}"/>
              </a:ext>
            </a:extLst>
          </p:cNvPr>
          <p:cNvGrpSpPr/>
          <p:nvPr/>
        </p:nvGrpSpPr>
        <p:grpSpPr>
          <a:xfrm>
            <a:off x="1607820" y="3032760"/>
            <a:ext cx="7620000" cy="1028700"/>
            <a:chOff x="2286000" y="4312920"/>
            <a:chExt cx="7620000" cy="10287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A91AD04-1B1C-BBCB-B351-4D41F3DA6643}"/>
                </a:ext>
              </a:extLst>
            </p:cNvPr>
            <p:cNvSpPr/>
            <p:nvPr/>
          </p:nvSpPr>
          <p:spPr>
            <a:xfrm>
              <a:off x="2286000" y="4312920"/>
              <a:ext cx="3444240" cy="1028700"/>
            </a:xfrm>
            <a:prstGeom prst="round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HelloWorldConsole.exe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196FF44-1A27-FE51-6EB1-D08100F93484}"/>
                </a:ext>
              </a:extLst>
            </p:cNvPr>
            <p:cNvSpPr/>
            <p:nvPr/>
          </p:nvSpPr>
          <p:spPr>
            <a:xfrm>
              <a:off x="6461760" y="4312920"/>
              <a:ext cx="3444240" cy="102870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HelloWorld.lib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B8F5E8C-7CA9-E185-40D3-29B7C432EBAA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>
              <a:off x="5730240" y="4827270"/>
              <a:ext cx="7315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1852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14DD9-31BC-57A5-4E75-EBA6A897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careful with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058B3-05B9-DDC8-8C04-BEE97FB3B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66205"/>
            <a:ext cx="10515600" cy="3510757"/>
          </a:xfrm>
        </p:spPr>
        <p:txBody>
          <a:bodyPr/>
          <a:lstStyle/>
          <a:p>
            <a:r>
              <a:rPr lang="en-US" dirty="0"/>
              <a:t>They will cause scripts to freeze (not error)</a:t>
            </a:r>
          </a:p>
          <a:p>
            <a:r>
              <a:rPr lang="en-US" dirty="0"/>
              <a:t>Confirmation prompts can be annoying</a:t>
            </a:r>
          </a:p>
          <a:p>
            <a:r>
              <a:rPr lang="en-US" dirty="0"/>
              <a:t>Prompts for required information are nice, but not in scripts</a:t>
            </a:r>
          </a:p>
          <a:p>
            <a:r>
              <a:rPr lang="en-US" dirty="0"/>
              <a:t>Use a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--force</a:t>
            </a:r>
            <a:r>
              <a:rPr lang="en-US" dirty="0"/>
              <a:t> option to avoid prompts</a:t>
            </a:r>
          </a:p>
          <a:p>
            <a:pPr lvl="1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-f</a:t>
            </a:r>
            <a:r>
              <a:rPr lang="en-US" dirty="0"/>
              <a:t> is also used for other things, so I dislike its use for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--force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ea typeface="+mj-ea"/>
              <a:cs typeface="Cascadia Code" panose="020B0609020000020004" pitchFamily="49" charset="0"/>
            </a:endParaRPr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7B5C4686-98C4-8FB5-3A67-77EFF8194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4360" y="0"/>
            <a:ext cx="3787140" cy="378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59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AAF9-C3B9-CDCA-EA32-4F7346BE2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style and ecosystem traditions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BDF0B-F043-99E9-9D42-4C86EF8E3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67060" cy="4351338"/>
          </a:xfrm>
        </p:spPr>
        <p:txBody>
          <a:bodyPr/>
          <a:lstStyle/>
          <a:p>
            <a:r>
              <a:rPr lang="en-US" dirty="0"/>
              <a:t>Kebab case for multiple words</a:t>
            </a:r>
          </a:p>
          <a:p>
            <a:r>
              <a:rPr lang="en-US" dirty="0"/>
              <a:t>Case sensitive </a:t>
            </a:r>
            <a:r>
              <a:rPr lang="en-US" sz="2400" dirty="0"/>
              <a:t>(and yes, I hate this)</a:t>
            </a:r>
          </a:p>
          <a:p>
            <a:r>
              <a:rPr lang="en-US" sz="2400" dirty="0"/>
              <a:t>Option names are prefixed with a double dash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--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ea typeface="+mj-ea"/>
              <a:cs typeface="Cascadia Code" panose="020B0609020000020004" pitchFamily="49" charset="0"/>
            </a:endParaRPr>
          </a:p>
          <a:p>
            <a:r>
              <a:rPr lang="en-US" sz="2400" dirty="0"/>
              <a:t>One letter abbreviations are prefixed with a dash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-</a:t>
            </a:r>
          </a:p>
          <a:p>
            <a:pPr lvl="1"/>
            <a:r>
              <a:rPr lang="en-US" sz="2000" dirty="0"/>
              <a:t>You only have 23-25: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-h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 </a:t>
            </a:r>
            <a:r>
              <a:rPr lang="en-US" sz="2000" dirty="0"/>
              <a:t>is taken,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-f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 </a:t>
            </a:r>
            <a:r>
              <a:rPr lang="en-US" sz="2000" dirty="0"/>
              <a:t>and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–v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 </a:t>
            </a:r>
            <a:r>
              <a:rPr lang="en-US" sz="2000" dirty="0"/>
              <a:t>have standard meanings (2 for each ☹️)</a:t>
            </a:r>
          </a:p>
          <a:p>
            <a:pPr lvl="1"/>
            <a:r>
              <a:rPr lang="en-US" sz="2000" dirty="0"/>
              <a:t>You can use capitals, but may cause confusion 😟</a:t>
            </a:r>
          </a:p>
          <a:p>
            <a:r>
              <a:rPr lang="en-US" sz="2400" dirty="0"/>
              <a:t>Use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--</a:t>
            </a:r>
            <a:r>
              <a:rPr lang="en-US" sz="2400" dirty="0"/>
              <a:t> for multi-letter abbreviations to avoid conflict with stacking/coalescing</a:t>
            </a:r>
          </a:p>
          <a:p>
            <a:pPr lvl="1"/>
            <a:r>
              <a:rPr lang="en-US" sz="2000" dirty="0"/>
              <a:t>This can be helpful for long words</a:t>
            </a:r>
          </a:p>
          <a:p>
            <a:r>
              <a:rPr lang="en-US" sz="2400" dirty="0"/>
              <a:t>A double dash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--</a:t>
            </a:r>
            <a:r>
              <a:rPr lang="en-US" sz="1800" dirty="0"/>
              <a:t> </a:t>
            </a:r>
            <a:r>
              <a:rPr lang="en-US" sz="2400" dirty="0"/>
              <a:t>appearing alone passes the rest of the line to the operation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633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30E25B2-D3F7-3761-39B3-779282D8F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1828A-5384-73F3-DC4A-E19EA8102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stderr and </a:t>
            </a:r>
            <a:r>
              <a:rPr lang="en-US" dirty="0" err="1"/>
              <a:t>stdout</a:t>
            </a:r>
            <a:r>
              <a:rPr lang="en-US" dirty="0"/>
              <a:t> have different purposes </a:t>
            </a:r>
          </a:p>
        </p:txBody>
      </p:sp>
      <p:pic>
        <p:nvPicPr>
          <p:cNvPr id="5" name="Content Placeholder 4" descr="Shark warning flag">
            <a:extLst>
              <a:ext uri="{FF2B5EF4-FFF2-40B4-BE49-F238E27FC236}">
                <a16:creationId xmlns:a16="http://schemas.microsoft.com/office/drawing/2014/main" id="{A23C8969-DBE3-1028-0E0E-1CDBF50E4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661" y="5127800"/>
            <a:ext cx="2434188" cy="1622792"/>
          </a:xfrm>
        </p:spPr>
      </p:pic>
      <p:pic>
        <p:nvPicPr>
          <p:cNvPr id="7" name="Picture 6" descr="Arrows showing direction">
            <a:extLst>
              <a:ext uri="{FF2B5EF4-FFF2-40B4-BE49-F238E27FC236}">
                <a16:creationId xmlns:a16="http://schemas.microsoft.com/office/drawing/2014/main" id="{0E7AADBB-6191-2400-E327-45D782B75B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88" y="4943648"/>
            <a:ext cx="2623507" cy="1748578"/>
          </a:xfrm>
          <a:prstGeom prst="rect">
            <a:avLst/>
          </a:prstGeom>
        </p:spPr>
      </p:pic>
      <p:pic>
        <p:nvPicPr>
          <p:cNvPr id="9" name="Picture 8" descr="Torn rope">
            <a:extLst>
              <a:ext uri="{FF2B5EF4-FFF2-40B4-BE49-F238E27FC236}">
                <a16:creationId xmlns:a16="http://schemas.microsoft.com/office/drawing/2014/main" id="{2583A774-2204-CBBF-AC65-4C219EF30B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660" y="3479378"/>
            <a:ext cx="2464340" cy="1643758"/>
          </a:xfrm>
          <a:prstGeom prst="rect">
            <a:avLst/>
          </a:prstGeom>
        </p:spPr>
      </p:pic>
      <p:pic>
        <p:nvPicPr>
          <p:cNvPr id="11" name="Picture 10" descr="Damaged teddy bear">
            <a:extLst>
              <a:ext uri="{FF2B5EF4-FFF2-40B4-BE49-F238E27FC236}">
                <a16:creationId xmlns:a16="http://schemas.microsoft.com/office/drawing/2014/main" id="{67C51C07-790E-B480-1AD6-4C0982B74D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503" y="1789165"/>
            <a:ext cx="2844039" cy="1690213"/>
          </a:xfrm>
          <a:prstGeom prst="rect">
            <a:avLst/>
          </a:prstGeom>
        </p:spPr>
      </p:pic>
      <p:pic>
        <p:nvPicPr>
          <p:cNvPr id="13" name="Picture 12" descr="A teddy bear">
            <a:extLst>
              <a:ext uri="{FF2B5EF4-FFF2-40B4-BE49-F238E27FC236}">
                <a16:creationId xmlns:a16="http://schemas.microsoft.com/office/drawing/2014/main" id="{FCB7EC80-F0BF-03B1-6BBF-6FE5B1B727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739" y="0"/>
            <a:ext cx="2687109" cy="1790969"/>
          </a:xfrm>
          <a:prstGeom prst="rect">
            <a:avLst/>
          </a:prstGeom>
        </p:spPr>
      </p:pic>
      <p:pic>
        <p:nvPicPr>
          <p:cNvPr id="15" name="Picture 14" descr="Multicolored wires graphic">
            <a:extLst>
              <a:ext uri="{FF2B5EF4-FFF2-40B4-BE49-F238E27FC236}">
                <a16:creationId xmlns:a16="http://schemas.microsoft.com/office/drawing/2014/main" id="{9F21D731-1CF0-1EAF-6D59-04C39453DF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512" y="0"/>
            <a:ext cx="2291511" cy="1273062"/>
          </a:xfrm>
          <a:prstGeom prst="rect">
            <a:avLst/>
          </a:prstGeom>
        </p:spPr>
      </p:pic>
      <p:pic>
        <p:nvPicPr>
          <p:cNvPr id="17" name="Picture 16" descr="Speed lines technology abstract">
            <a:extLst>
              <a:ext uri="{FF2B5EF4-FFF2-40B4-BE49-F238E27FC236}">
                <a16:creationId xmlns:a16="http://schemas.microsoft.com/office/drawing/2014/main" id="{D4B494B9-F456-A80C-61B5-780D2EBFF7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651" y="1230218"/>
            <a:ext cx="3038817" cy="1587619"/>
          </a:xfrm>
          <a:prstGeom prst="rect">
            <a:avLst/>
          </a:prstGeom>
        </p:spPr>
      </p:pic>
      <p:pic>
        <p:nvPicPr>
          <p:cNvPr id="19" name="Picture 18" descr="Minimalist globe graphic">
            <a:extLst>
              <a:ext uri="{FF2B5EF4-FFF2-40B4-BE49-F238E27FC236}">
                <a16:creationId xmlns:a16="http://schemas.microsoft.com/office/drawing/2014/main" id="{B6A06914-13AA-C970-C9C4-B5BE2BEDB7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512" y="2817837"/>
            <a:ext cx="2101954" cy="2125811"/>
          </a:xfrm>
          <a:prstGeom prst="rect">
            <a:avLst/>
          </a:prstGeom>
        </p:spPr>
      </p:pic>
      <p:pic>
        <p:nvPicPr>
          <p:cNvPr id="4" name="Picture 3" descr="Message in a bottle floating in water">
            <a:extLst>
              <a:ext uri="{FF2B5EF4-FFF2-40B4-BE49-F238E27FC236}">
                <a16:creationId xmlns:a16="http://schemas.microsoft.com/office/drawing/2014/main" id="{4EEDF470-BF68-B9BA-9D26-971CEAA818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519" y="5159801"/>
            <a:ext cx="2338756" cy="155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CF07E-EAF9-C770-A810-39DF70E47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building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DD333-02E1-4E9A-71E8-642BF76F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Commands, </a:t>
            </a:r>
            <a:r>
              <a:rPr lang="en-US" dirty="0"/>
              <a:t>(also root command, and subcommands)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dotnet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new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 console --output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MyConsoleApp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ea typeface="+mj-ea"/>
              <a:cs typeface="Cascadia Code" panose="020B0609020000020004" pitchFamily="49" charset="0"/>
            </a:endParaRPr>
          </a:p>
          <a:p>
            <a:r>
              <a:rPr lang="en-US" b="1" dirty="0"/>
              <a:t>Options</a:t>
            </a:r>
            <a:r>
              <a:rPr lang="en-US" dirty="0"/>
              <a:t> or named arguments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dotnet new console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--output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MyConsoleApp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b="1" dirty="0"/>
              <a:t>Arguments</a:t>
            </a:r>
            <a:r>
              <a:rPr lang="en-US" dirty="0"/>
              <a:t> or positional arguments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dotnet new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console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--output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MyConsoleApp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/>
              <a:t>Options frequently have arguments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dotnet new console --output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MyConsoleApp</a:t>
            </a:r>
            <a:endParaRPr lang="en-US" dirty="0">
              <a:solidFill>
                <a:schemeClr val="accent5">
                  <a:lumMod val="75000"/>
                </a:schemeClr>
              </a:solidFill>
              <a:highlight>
                <a:srgbClr val="FFFF00"/>
              </a:highlight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457200" lvl="1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585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99942-41AB-FC52-6F4D-BF7A6BC02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4587" y="771802"/>
            <a:ext cx="4805996" cy="534327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6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Your CLI is a </a:t>
            </a:r>
            <a:br>
              <a:rPr lang="en-US" sz="6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6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</a:t>
            </a:r>
            <a:r>
              <a:rPr lang="en-US" sz="6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omain </a:t>
            </a:r>
            <a:br>
              <a:rPr lang="en-US" sz="6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6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</a:t>
            </a:r>
            <a:r>
              <a:rPr lang="en-US" sz="6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pecific </a:t>
            </a:r>
            <a:br>
              <a:rPr lang="en-US" sz="6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6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</a:t>
            </a:r>
            <a:r>
              <a:rPr lang="en-US" sz="6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anguage</a:t>
            </a:r>
          </a:p>
        </p:txBody>
      </p:sp>
      <p:pic>
        <p:nvPicPr>
          <p:cNvPr id="6" name="Graphic 5" descr="Quotes">
            <a:extLst>
              <a:ext uri="{FF2B5EF4-FFF2-40B4-BE49-F238E27FC236}">
                <a16:creationId xmlns:a16="http://schemas.microsoft.com/office/drawing/2014/main" id="{A1B91D71-FA3F-1F96-79F8-92A1A92CA7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31962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9C5E1-EA7D-29BC-14DB-901346186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60500"/>
          </a:xfrm>
        </p:spPr>
        <p:txBody>
          <a:bodyPr>
            <a:normAutofit/>
          </a:bodyPr>
          <a:lstStyle/>
          <a:p>
            <a:r>
              <a:rPr lang="en-US" dirty="0"/>
              <a:t>Design questions to ask</a:t>
            </a:r>
            <a:br>
              <a:rPr lang="en-US" dirty="0"/>
            </a:br>
            <a:r>
              <a:rPr lang="en-US" sz="2700" dirty="0"/>
              <a:t>Base answers on where you want your app to be in five years</a:t>
            </a:r>
            <a:br>
              <a:rPr lang="en-US" sz="2700" dirty="0"/>
            </a:br>
            <a:r>
              <a:rPr lang="en-US" sz="2700" dirty="0"/>
              <a:t>Invest brainstorming effort on this early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9A06E-65E4-DB30-A099-B3E2A8527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3119"/>
            <a:ext cx="10515600" cy="407384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are the things that will be worked on by your app?</a:t>
            </a:r>
          </a:p>
          <a:p>
            <a:pPr lvl="1"/>
            <a:r>
              <a:rPr lang="en-US" dirty="0"/>
              <a:t>These are probably areas</a:t>
            </a:r>
          </a:p>
          <a:p>
            <a:r>
              <a:rPr lang="en-US" dirty="0"/>
              <a:t>What are the actions to be performed on each thing?</a:t>
            </a:r>
          </a:p>
          <a:p>
            <a:r>
              <a:rPr lang="en-US" dirty="0"/>
              <a:t>Is there one area or do most commands work on a single area?</a:t>
            </a:r>
          </a:p>
          <a:p>
            <a:pPr lvl="1"/>
            <a:r>
              <a:rPr lang="en-US" dirty="0"/>
              <a:t>This the core area</a:t>
            </a:r>
          </a:p>
          <a:p>
            <a:r>
              <a:rPr lang="en-US" dirty="0"/>
              <a:t>What operations are common across many areas? </a:t>
            </a:r>
          </a:p>
          <a:p>
            <a:pPr lvl="1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add</a:t>
            </a:r>
            <a:r>
              <a:rPr lang="en-US" dirty="0"/>
              <a:t>,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remove</a:t>
            </a:r>
            <a:r>
              <a:rPr lang="en-US" dirty="0"/>
              <a:t>, and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list</a:t>
            </a:r>
            <a:r>
              <a:rPr lang="en-US" dirty="0"/>
              <a:t> are common</a:t>
            </a:r>
          </a:p>
          <a:p>
            <a:r>
              <a:rPr lang="en-US" dirty="0"/>
              <a:t>Draw a tree – mermaid markdown is helpful</a:t>
            </a:r>
          </a:p>
          <a:p>
            <a:r>
              <a:rPr lang="en-US" dirty="0"/>
              <a:t>Iterate on this design</a:t>
            </a: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A51763-4E63-1A2B-0E00-B69A329A8E81}"/>
              </a:ext>
            </a:extLst>
          </p:cNvPr>
          <p:cNvCxnSpPr/>
          <p:nvPr/>
        </p:nvCxnSpPr>
        <p:spPr>
          <a:xfrm flipV="1">
            <a:off x="838200" y="1767840"/>
            <a:ext cx="10515600" cy="577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937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45081-88B7-A7EF-E46A-7B572E9FC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" y="423862"/>
            <a:ext cx="10515600" cy="1325563"/>
          </a:xfrm>
        </p:spPr>
        <p:txBody>
          <a:bodyPr/>
          <a:lstStyle/>
          <a:p>
            <a:r>
              <a:rPr lang="en-US" dirty="0"/>
              <a:t>Noun/Verb?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2B437-C5C7-FC41-5ADB-4485CCD1E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749425"/>
            <a:ext cx="9136380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[exe name] [noun] [verb]</a:t>
            </a:r>
            <a:r>
              <a:rPr lang="en-US" dirty="0"/>
              <a:t> is not a helpful rule</a:t>
            </a:r>
          </a:p>
          <a:p>
            <a:pPr lvl="1"/>
            <a:r>
              <a:rPr lang="en-US" dirty="0"/>
              <a:t>Think instead of </a:t>
            </a:r>
            <a:r>
              <a:rPr lang="en-US" b="1" dirty="0"/>
              <a:t>areas</a:t>
            </a:r>
            <a:r>
              <a:rPr lang="en-US" dirty="0"/>
              <a:t>, perhaps with a core or implied area</a:t>
            </a:r>
          </a:p>
          <a:p>
            <a:pPr lvl="1"/>
            <a:r>
              <a:rPr lang="en-US" dirty="0"/>
              <a:t>For dotnet,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PROJECT | SOLUTION | FILE</a:t>
            </a:r>
            <a:r>
              <a:rPr lang="en-US" dirty="0"/>
              <a:t>, is the implied area</a:t>
            </a:r>
          </a:p>
          <a:p>
            <a:pPr lvl="1"/>
            <a:r>
              <a:rPr lang="en-US" dirty="0"/>
              <a:t>Noun/area first for operations other areas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      dotnet package add…</a:t>
            </a:r>
          </a:p>
          <a:p>
            <a:r>
              <a:rPr lang="en-US" dirty="0"/>
              <a:t>There are some outliers</a:t>
            </a:r>
          </a:p>
          <a:p>
            <a:pPr lvl="1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help </a:t>
            </a:r>
            <a:r>
              <a:rPr lang="en-US" dirty="0"/>
              <a:t>displays the </a:t>
            </a:r>
            <a:r>
              <a:rPr lang="en-US" dirty="0" err="1"/>
              <a:t>MSLearn</a:t>
            </a:r>
            <a:r>
              <a:rPr lang="en-US" dirty="0"/>
              <a:t> (docs) web page</a:t>
            </a:r>
          </a:p>
          <a:p>
            <a:pPr lvl="1"/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nuget</a:t>
            </a:r>
            <a:r>
              <a:rPr lang="en-US" dirty="0"/>
              <a:t> is a separate CLI, resulting in some 3 command nesting</a:t>
            </a:r>
          </a:p>
          <a:p>
            <a:pPr lvl="1"/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msbuild</a:t>
            </a:r>
            <a:r>
              <a:rPr lang="en-US" dirty="0"/>
              <a:t> </a:t>
            </a:r>
            <a:r>
              <a:rPr lang="en-US" dirty="0" err="1"/>
              <a:t>acceses</a:t>
            </a:r>
            <a:r>
              <a:rPr lang="en-US" dirty="0"/>
              <a:t> a separate “CLI” with its own syntax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ea typeface="+mj-ea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736D41-D447-E1F1-7EF3-FC62B08190DC}"/>
              </a:ext>
            </a:extLst>
          </p:cNvPr>
          <p:cNvSpPr txBox="1"/>
          <p:nvPr/>
        </p:nvSpPr>
        <p:spPr>
          <a:xfrm>
            <a:off x="10104120" y="681037"/>
            <a:ext cx="1790700" cy="59093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build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build-server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clean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format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help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</a:t>
            </a:r>
            <a:r>
              <a:rPr lang="en-US" sz="1800" b="0" dirty="0" err="1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msbuild</a:t>
            </a:r>
            <a:endParaRPr lang="en-US" sz="1800" b="0" dirty="0">
              <a:solidFill>
                <a:schemeClr val="accent2">
                  <a:lumMod val="75000"/>
                </a:schemeClr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   new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nuget</a:t>
            </a: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pack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package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publish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reference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restore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run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sdk</a:t>
            </a: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solution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store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test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tool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</a:t>
            </a:r>
            <a:r>
              <a:rPr lang="en-US" sz="1800" b="0" dirty="0" err="1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vstest</a:t>
            </a:r>
            <a:endParaRPr lang="en-US" sz="1800" b="0" dirty="0">
              <a:solidFill>
                <a:schemeClr val="accent2">
                  <a:lumMod val="75000"/>
                </a:schemeClr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workload</a:t>
            </a:r>
            <a:endParaRPr lang="en-US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672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36752-8F0C-AF2C-438F-9AF5591AD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085F0-490B-2323-ADB1-B9B99E829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" y="423862"/>
            <a:ext cx="10515600" cy="1325563"/>
          </a:xfrm>
        </p:spPr>
        <p:txBody>
          <a:bodyPr/>
          <a:lstStyle/>
          <a:p>
            <a:r>
              <a:rPr lang="en-US" dirty="0"/>
              <a:t>Noun/Verb? </a:t>
            </a:r>
            <a:r>
              <a:rPr lang="en-US" sz="3200" dirty="0"/>
              <a:t>(cont’d)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17132-1684-4C9B-E4F5-D87945921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749425"/>
            <a:ext cx="9136380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new </a:t>
            </a:r>
            <a:r>
              <a:rPr lang="en-US" dirty="0"/>
              <a:t>is generally an adjective, but is used here as a verb</a:t>
            </a:r>
          </a:p>
          <a:p>
            <a:pPr lvl="1"/>
            <a:r>
              <a:rPr lang="en-US" dirty="0"/>
              <a:t>It’s also an area because you can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install</a:t>
            </a:r>
            <a:r>
              <a:rPr lang="en-US" dirty="0"/>
              <a:t>,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uninstall</a:t>
            </a:r>
            <a:r>
              <a:rPr lang="en-US" dirty="0"/>
              <a:t> &amp;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search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ea typeface="+mj-ea"/>
              <a:cs typeface="Cascadia Code" panose="020B0609020000020004" pitchFamily="49" charset="0"/>
            </a:endParaRPr>
          </a:p>
          <a:p>
            <a:pPr lvl="1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list</a:t>
            </a:r>
            <a:r>
              <a:rPr lang="en-US" dirty="0"/>
              <a:t> means list those available, not templates in the project</a:t>
            </a:r>
          </a:p>
          <a:p>
            <a:r>
              <a:rPr lang="en-US" dirty="0"/>
              <a:t>In my experience, all CLIs are imperfect</a:t>
            </a:r>
          </a:p>
          <a:p>
            <a:pPr lvl="1"/>
            <a:r>
              <a:rPr lang="en-US" dirty="0"/>
              <a:t>The key is </a:t>
            </a:r>
            <a:r>
              <a:rPr lang="en-US" i="1" dirty="0"/>
              <a:t>does it feel OK to a new user</a:t>
            </a:r>
            <a:endParaRPr lang="en-US" dirty="0"/>
          </a:p>
          <a:p>
            <a:pPr lvl="1"/>
            <a:r>
              <a:rPr lang="en-US" dirty="0"/>
              <a:t>And remember, you can’t change as you evolve, so sometimes you just live with stuff</a:t>
            </a:r>
          </a:p>
          <a:p>
            <a:pPr lvl="1"/>
            <a:r>
              <a:rPr lang="en-US" dirty="0"/>
              <a:t>If starting from scratch,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new</a:t>
            </a:r>
            <a:r>
              <a:rPr lang="en-US" dirty="0"/>
              <a:t> might have been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template</a:t>
            </a:r>
          </a:p>
          <a:p>
            <a:r>
              <a:rPr lang="en-US" dirty="0"/>
              <a:t>As long as you start with what would be the natural core or implied area, you can add other areas later</a:t>
            </a:r>
          </a:p>
          <a:p>
            <a:pPr lvl="1"/>
            <a:endParaRPr lang="en-US" sz="2000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ea typeface="+mj-ea"/>
              <a:cs typeface="Cascadia Code" panose="020B0609020000020004" pitchFamily="49" charset="0"/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ea typeface="+mj-ea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5FFDA-EFBD-8CD4-03BE-60BF1632A394}"/>
              </a:ext>
            </a:extLst>
          </p:cNvPr>
          <p:cNvSpPr txBox="1"/>
          <p:nvPr/>
        </p:nvSpPr>
        <p:spPr>
          <a:xfrm>
            <a:off x="10104120" y="681037"/>
            <a:ext cx="1790700" cy="59093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build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build-server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clean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format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help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</a:t>
            </a:r>
            <a:r>
              <a:rPr lang="en-US" sz="1800" b="0" dirty="0" err="1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msbuild</a:t>
            </a:r>
            <a:endParaRPr lang="en-US" sz="1800" b="0" dirty="0">
              <a:solidFill>
                <a:schemeClr val="accent2">
                  <a:lumMod val="75000"/>
                </a:schemeClr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   new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nuget</a:t>
            </a: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pack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package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publish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reference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restore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run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sdk</a:t>
            </a: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solution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store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test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tool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</a:t>
            </a:r>
            <a:r>
              <a:rPr lang="en-US" sz="1800" b="0" dirty="0" err="1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vstest</a:t>
            </a:r>
            <a:endParaRPr lang="en-US" sz="1800" b="0" dirty="0">
              <a:solidFill>
                <a:schemeClr val="accent2">
                  <a:lumMod val="75000"/>
                </a:schemeClr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workload</a:t>
            </a:r>
            <a:endParaRPr lang="en-US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432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8D2D6-4CE2-9F8A-57AF-C7521C41C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D9CD5-3830-837C-6069-9619756FD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" y="423862"/>
            <a:ext cx="10515600" cy="1325563"/>
          </a:xfrm>
        </p:spPr>
        <p:txBody>
          <a:bodyPr/>
          <a:lstStyle/>
          <a:p>
            <a:r>
              <a:rPr lang="en-US" dirty="0"/>
              <a:t>Noun/Verb? </a:t>
            </a:r>
            <a:r>
              <a:rPr lang="en-US" sz="3200" dirty="0"/>
              <a:t>(cont’d 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3B520-3874-306B-EE8A-039EC5521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749425"/>
            <a:ext cx="9136380" cy="4351338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nuget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 </a:t>
            </a:r>
            <a:r>
              <a:rPr lang="en-US" dirty="0"/>
              <a:t>has verb that work on two implied areas</a:t>
            </a:r>
          </a:p>
          <a:p>
            <a:pPr lvl="1"/>
            <a:r>
              <a:rPr lang="en-US" dirty="0"/>
              <a:t>Most of its commands work on sources, but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delete</a:t>
            </a:r>
            <a:r>
              <a:rPr lang="en-US" dirty="0"/>
              <a:t> &amp;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push</a:t>
            </a:r>
            <a:r>
              <a:rPr lang="en-US" dirty="0"/>
              <a:t> work on the server and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verify</a:t>
            </a:r>
            <a:r>
              <a:rPr lang="en-US" dirty="0"/>
              <a:t> &amp;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sign</a:t>
            </a:r>
            <a:r>
              <a:rPr lang="en-US" dirty="0"/>
              <a:t> work on packages</a:t>
            </a:r>
          </a:p>
          <a:p>
            <a:pPr lvl="1"/>
            <a:r>
              <a:rPr lang="en-US" dirty="0"/>
              <a:t>And does it make sense for a subcommand that is clearly an area to even have an implied sub area?</a:t>
            </a:r>
          </a:p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test</a:t>
            </a:r>
            <a:r>
              <a:rPr lang="en-US" dirty="0"/>
              <a:t> and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vstest</a:t>
            </a:r>
            <a:r>
              <a:rPr lang="en-US" dirty="0"/>
              <a:t> are a bit of a mess, partially because the areas are complex, and also legacy</a:t>
            </a:r>
          </a:p>
          <a:p>
            <a:pPr lvl="1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test</a:t>
            </a:r>
            <a:r>
              <a:rPr lang="en-US" dirty="0"/>
              <a:t> behaves differently depending on configuration, although that is partially a difficult point in time</a:t>
            </a:r>
          </a:p>
          <a:p>
            <a:pPr lvl="1"/>
            <a:endParaRPr lang="en-US" dirty="0"/>
          </a:p>
          <a:p>
            <a:pPr lvl="1"/>
            <a:endParaRPr lang="en-US" sz="2000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ea typeface="+mj-ea"/>
              <a:cs typeface="Cascadia Code" panose="020B0609020000020004" pitchFamily="49" charset="0"/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ea typeface="+mj-ea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8099FE-2B82-45FE-D0F2-16B35CEEDF9B}"/>
              </a:ext>
            </a:extLst>
          </p:cNvPr>
          <p:cNvSpPr txBox="1"/>
          <p:nvPr/>
        </p:nvSpPr>
        <p:spPr>
          <a:xfrm>
            <a:off x="10104120" y="681037"/>
            <a:ext cx="1790700" cy="59093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build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build-server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clean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format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help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</a:t>
            </a:r>
            <a:r>
              <a:rPr lang="en-US" sz="1800" b="0" dirty="0" err="1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msbuild</a:t>
            </a:r>
            <a:endParaRPr lang="en-US" sz="1800" b="0" dirty="0">
              <a:solidFill>
                <a:schemeClr val="accent2">
                  <a:lumMod val="75000"/>
                </a:schemeClr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   new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nuget</a:t>
            </a: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pack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package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publish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reference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restore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run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sdk</a:t>
            </a: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solution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store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test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tool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 </a:t>
            </a:r>
            <a:r>
              <a:rPr lang="en-US" sz="1800" b="0" dirty="0" err="1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vstest</a:t>
            </a:r>
            <a:endParaRPr lang="en-US" sz="1800" b="0" dirty="0">
              <a:solidFill>
                <a:schemeClr val="accent2">
                  <a:lumMod val="75000"/>
                </a:schemeClr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N workload</a:t>
            </a:r>
            <a:endParaRPr lang="en-US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187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BC90D-FF24-02CB-CFD4-3CA3FF29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CLI or many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81834-CE43-C7D6-B82F-72C8895EE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single entry point allows help to display all available commands</a:t>
            </a:r>
          </a:p>
          <a:p>
            <a:pPr lvl="1"/>
            <a:r>
              <a:rPr lang="en-US" dirty="0"/>
              <a:t>This is bad if you have 140 commands</a:t>
            </a:r>
          </a:p>
          <a:p>
            <a:r>
              <a:rPr lang="en-US" dirty="0"/>
              <a:t>Very small CLIs mean there are more exe names to remember</a:t>
            </a:r>
          </a:p>
          <a:p>
            <a:r>
              <a:rPr lang="en-US" dirty="0"/>
              <a:t>If you have a clear distinction in user role, security, frequency of use (particularly when that is “never”), etc. use two CLIs</a:t>
            </a:r>
          </a:p>
        </p:txBody>
      </p:sp>
    </p:spTree>
    <p:extLst>
      <p:ext uri="{BB962C8B-B14F-4D97-AF65-F5344CB8AC3E}">
        <p14:creationId xmlns:p14="http://schemas.microsoft.com/office/powerpoint/2010/main" val="1381946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F21E4D-581E-D4B5-958D-4DCE66791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Learn from other CLIs </a:t>
            </a:r>
            <a:b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(good and bad)</a:t>
            </a:r>
          </a:p>
        </p:txBody>
      </p:sp>
    </p:spTree>
    <p:extLst>
      <p:ext uri="{BB962C8B-B14F-4D97-AF65-F5344CB8AC3E}">
        <p14:creationId xmlns:p14="http://schemas.microsoft.com/office/powerpoint/2010/main" val="3002986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3A54A-D7DC-5C8A-C0D9-F91910BED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imperfect CLI: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git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A2C66-628D-020E-269C-5BF0B1853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grouped by area, see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git -h</a:t>
            </a:r>
          </a:p>
          <a:p>
            <a:r>
              <a:rPr lang="en-US" dirty="0"/>
              <a:t>Also, git uses upper- and lower-case abbreviations</a:t>
            </a:r>
          </a:p>
          <a:p>
            <a:r>
              <a:rPr lang="en-US" dirty="0"/>
              <a:t>There are a huge number of options</a:t>
            </a:r>
          </a:p>
          <a:p>
            <a:pPr lvl="1"/>
            <a:r>
              <a:rPr lang="en-US" dirty="0"/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-c</a:t>
            </a:r>
            <a:r>
              <a:rPr lang="en-US" dirty="0"/>
              <a:t> and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-C</a:t>
            </a:r>
            <a:r>
              <a:rPr lang="en-US" dirty="0"/>
              <a:t> do very different things; also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-p</a:t>
            </a:r>
            <a:r>
              <a:rPr lang="en-US" dirty="0"/>
              <a:t> and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-P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pPr lvl="1"/>
            <a:r>
              <a:rPr lang="en-US" dirty="0"/>
              <a:t>Isn’t that confusing?</a:t>
            </a:r>
          </a:p>
          <a:p>
            <a:r>
              <a:rPr lang="en-US" dirty="0"/>
              <a:t>There are 140+ commands, since plumbing commands are included</a:t>
            </a:r>
          </a:p>
          <a:p>
            <a:pPr lvl="1"/>
            <a:r>
              <a:rPr lang="en-US" dirty="0"/>
              <a:t>AI says you only need ten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2400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ea typeface="+mj-ea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804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7600-3160-B0AA-9241-AFEE13085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the details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DAE72-EDEE-9601-37D0-6CEA7F5F3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 your areas thoughtfully</a:t>
            </a:r>
          </a:p>
          <a:p>
            <a:pPr lvl="1"/>
            <a:r>
              <a:rPr lang="en-US" dirty="0"/>
              <a:t>Most common name, among synonyms pick short and easy to spell</a:t>
            </a:r>
          </a:p>
          <a:p>
            <a:pPr lvl="1"/>
            <a:r>
              <a:rPr lang="en-US" dirty="0"/>
              <a:t>Do not use context for naming </a:t>
            </a:r>
          </a:p>
          <a:p>
            <a:pPr lvl="1"/>
            <a:r>
              <a:rPr lang="en-US" dirty="0"/>
              <a:t>IMO, synonyms are OK if they provide a clear easy to type abbreviation</a:t>
            </a:r>
          </a:p>
          <a:p>
            <a:r>
              <a:rPr lang="en-US" dirty="0"/>
              <a:t>Use one letter abbreviations sparingly and in clear and consistent ways</a:t>
            </a:r>
          </a:p>
          <a:p>
            <a:r>
              <a:rPr lang="en-US" dirty="0"/>
              <a:t>Devil really is in the details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481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1DDA-A0EF-79B7-9564-39F68F2E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39A76-D307-62B1-F7D6-FD7AB2FB8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Premise: The rules for a great CLI make a good or great API</a:t>
            </a:r>
          </a:p>
          <a:p>
            <a:r>
              <a:rPr lang="en-US" dirty="0"/>
              <a:t>Benefit: a single conceptual surface with two modes of access</a:t>
            </a:r>
          </a:p>
          <a:p>
            <a:r>
              <a:rPr lang="en-US" dirty="0"/>
              <a:t>Areas are classes</a:t>
            </a:r>
          </a:p>
          <a:p>
            <a:pPr lvl="1"/>
            <a:r>
              <a:rPr lang="en-US" dirty="0"/>
              <a:t>Help define class boundaries</a:t>
            </a:r>
          </a:p>
          <a:p>
            <a:pPr lvl="1"/>
            <a:r>
              <a:rPr lang="en-US" dirty="0"/>
              <a:t>Can identify classes that will grow to be too big early</a:t>
            </a:r>
          </a:p>
          <a:p>
            <a:r>
              <a:rPr lang="en-US" dirty="0"/>
              <a:t>Verb commands are methods</a:t>
            </a:r>
          </a:p>
          <a:p>
            <a:r>
              <a:rPr lang="en-US" dirty="0"/>
              <a:t>Since designing a CLI is done via an outline, it’s easy to experiment</a:t>
            </a:r>
          </a:p>
          <a:p>
            <a:r>
              <a:rPr lang="en-US" dirty="0"/>
              <a:t>CLIs are limited in data, so tie this with JSON structures for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119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1721-EEB6-C940-AA54-9D3DE9FE7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5FB95-0726-1FA6-82EB-7F2BCEA6E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parser APIs that are easier to use will emerge</a:t>
            </a:r>
          </a:p>
          <a:p>
            <a:r>
              <a:rPr lang="en-US" dirty="0"/>
              <a:t>Help will get better, although not fast enough</a:t>
            </a:r>
          </a:p>
          <a:p>
            <a:r>
              <a:rPr lang="en-US" dirty="0"/>
              <a:t>More often, terminal UIs will support CLIs, such as requesting missing data that is required and offering selection from lists</a:t>
            </a:r>
          </a:p>
          <a:p>
            <a:r>
              <a:rPr lang="en-US" dirty="0"/>
              <a:t>Hybrid tab completion will become more common</a:t>
            </a:r>
          </a:p>
          <a:p>
            <a:pPr lvl="1"/>
            <a:r>
              <a:rPr lang="en-US" dirty="0"/>
              <a:t>Very fast where the CLI structure is known</a:t>
            </a:r>
          </a:p>
          <a:p>
            <a:r>
              <a:rPr lang="en-US" dirty="0"/>
              <a:t>We might see more grouped CLIs like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az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ea typeface="+mj-ea"/>
                <a:cs typeface="Cascadia Code" panose="020B0609020000020004" pitchFamily="49" charset="0"/>
              </a:rPr>
              <a:t> </a:t>
            </a:r>
            <a:r>
              <a:rPr lang="en-US" dirty="0"/>
              <a:t>or .NET Tools that allow you to bring subcommands</a:t>
            </a:r>
          </a:p>
          <a:p>
            <a:endParaRPr lang="en-US" sz="2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465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9C884-BA8C-447E-6CBF-8AB16AB3C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98FF2-FE4B-046C-6A5A-1349A8A95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DragonFruit2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677CB-A0EE-FE29-873B-FC33C425A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Common semantic CLI models will empower future CLIs to</a:t>
            </a:r>
          </a:p>
          <a:p>
            <a:r>
              <a:rPr lang="en-US" sz="2400" dirty="0"/>
              <a:t>Have plug-in features</a:t>
            </a:r>
          </a:p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o</a:t>
            </a:r>
            <a:r>
              <a:rPr lang="en-US" sz="2400" b="1" dirty="0">
                <a:solidFill>
                  <a:schemeClr val="accent6"/>
                </a:solidFill>
              </a:rPr>
              <a:t>l</a:t>
            </a:r>
            <a:r>
              <a:rPr lang="en-US" sz="2400" b="1" dirty="0">
                <a:solidFill>
                  <a:srgbClr val="7030A0"/>
                </a:solidFill>
              </a:rPr>
              <a:t>o</a:t>
            </a:r>
            <a:r>
              <a:rPr lang="en-US" sz="2400" b="1" dirty="0">
                <a:solidFill>
                  <a:srgbClr val="FF0000"/>
                </a:solidFill>
              </a:rPr>
              <a:t>r </a:t>
            </a:r>
            <a:r>
              <a:rPr lang="en-US" sz="2400" dirty="0"/>
              <a:t>(while respecting ANSI colors/themes) and better help and output</a:t>
            </a:r>
          </a:p>
          <a:p>
            <a:r>
              <a:rPr lang="en-US" sz="2400" dirty="0"/>
              <a:t>Hybrid tab completion combining perf and flexibility (like NuGet packages)</a:t>
            </a:r>
          </a:p>
          <a:p>
            <a:r>
              <a:rPr lang="en-US" sz="2400" dirty="0"/>
              <a:t>Web based replacement for man pages automatically created</a:t>
            </a:r>
          </a:p>
          <a:p>
            <a:r>
              <a:rPr lang="en-US" sz="2400" dirty="0"/>
              <a:t>Lazy command definitions</a:t>
            </a:r>
          </a:p>
          <a:p>
            <a:r>
              <a:rPr lang="en-US" sz="2400" dirty="0"/>
              <a:t>Reusable help descriptions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660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55D82215-705E-1730-F2BD-E0EA16885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59146"/>
            <a:ext cx="12215362" cy="219876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A83305-3DFA-3B39-E8D9-A1F44215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344"/>
            <a:ext cx="6123709" cy="4026766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Old English Text MT" panose="03040902040508030806" pitchFamily="66" charset="0"/>
              </a:rPr>
              <a:t>Thank you!</a:t>
            </a:r>
          </a:p>
        </p:txBody>
      </p:sp>
      <p:pic>
        <p:nvPicPr>
          <p:cNvPr id="2" name="Content Placeholder 4" descr="SpreaView Review My Session&#10;&#10;AI-generated content may be incorrect.">
            <a:extLst>
              <a:ext uri="{FF2B5EF4-FFF2-40B4-BE49-F238E27FC236}">
                <a16:creationId xmlns:a16="http://schemas.microsoft.com/office/drawing/2014/main" id="{9F60EB1E-D69B-D03F-B47D-C22BAF653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104" y="467744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05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7" id="{F25F3079-1AB4-224B-B687-C8B3492E77B3}" vid="{08E19B72-3914-E242-9C54-738B4A7D24D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4970</TotalTime>
  <Words>1653</Words>
  <Application>Microsoft Office PowerPoint</Application>
  <PresentationFormat>Widescreen</PresentationFormat>
  <Paragraphs>239</Paragraphs>
  <Slides>29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Alegreya Medium</vt:lpstr>
      <vt:lpstr>Aptos</vt:lpstr>
      <vt:lpstr>Aptos Display</vt:lpstr>
      <vt:lpstr>Arial</vt:lpstr>
      <vt:lpstr>Cascadia Code</vt:lpstr>
      <vt:lpstr>Consolas</vt:lpstr>
      <vt:lpstr>DS Wallau</vt:lpstr>
      <vt:lpstr>Old English Text MT</vt:lpstr>
      <vt:lpstr>Office Theme</vt:lpstr>
      <vt:lpstr>1_Office Theme</vt:lpstr>
      <vt:lpstr>Creating great CLIs</vt:lpstr>
      <vt:lpstr>PowerPoint Presentation</vt:lpstr>
      <vt:lpstr>Agenda</vt:lpstr>
      <vt:lpstr>Who am I?</vt:lpstr>
      <vt:lpstr>Why you care about creating CLIs?</vt:lpstr>
      <vt:lpstr>Resources</vt:lpstr>
      <vt:lpstr>Use POSIX standard</vt:lpstr>
      <vt:lpstr>Do not write a CLI parser!</vt:lpstr>
      <vt:lpstr>CLIs can never change, but can be extended</vt:lpstr>
      <vt:lpstr>Respect stdout and stderr</vt:lpstr>
      <vt:lpstr>Help is essential</vt:lpstr>
      <vt:lpstr>Isolate your parser</vt:lpstr>
      <vt:lpstr>Be careful with prompts</vt:lpstr>
      <vt:lpstr>Follow style and ecosystem traditions</vt:lpstr>
      <vt:lpstr>stderr and stdout have different purposes </vt:lpstr>
      <vt:lpstr>Syntax building blocks</vt:lpstr>
      <vt:lpstr>Your CLI is a  Domain  Specific  Language</vt:lpstr>
      <vt:lpstr>Design questions to ask Base answers on where you want your app to be in five years Invest brainstorming effort on this early</vt:lpstr>
      <vt:lpstr>Noun/Verb?</vt:lpstr>
      <vt:lpstr>Noun/Verb? (cont’d)</vt:lpstr>
      <vt:lpstr>Noun/Verb? (cont’d 2)</vt:lpstr>
      <vt:lpstr>One CLI or many</vt:lpstr>
      <vt:lpstr>Learn from other CLIs  (good and bad)</vt:lpstr>
      <vt:lpstr>A very imperfect CLI: git</vt:lpstr>
      <vt:lpstr>Getting the details right</vt:lpstr>
      <vt:lpstr>CLI First</vt:lpstr>
      <vt:lpstr>Future predictions</vt:lpstr>
      <vt:lpstr>DragonFruit2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Kathleen Dollard</dc:creator>
  <cp:lastModifiedBy>Kathleen Dollard</cp:lastModifiedBy>
  <cp:revision>6</cp:revision>
  <dcterms:created xsi:type="dcterms:W3CDTF">2026-10-21T11:40:31Z</dcterms:created>
  <dcterms:modified xsi:type="dcterms:W3CDTF">2026-10-28T10:53:29Z</dcterms:modified>
</cp:coreProperties>
</file>