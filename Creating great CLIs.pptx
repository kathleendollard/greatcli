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9" r:id="rId6"/>
    <p:sldId id="268" r:id="rId7"/>
    <p:sldId id="259" r:id="rId8"/>
    <p:sldId id="275" r:id="rId9"/>
    <p:sldId id="274" r:id="rId10"/>
    <p:sldId id="277" r:id="rId11"/>
    <p:sldId id="278" r:id="rId12"/>
    <p:sldId id="279" r:id="rId13"/>
    <p:sldId id="271" r:id="rId14"/>
    <p:sldId id="276" r:id="rId15"/>
    <p:sldId id="261" r:id="rId16"/>
    <p:sldId id="280" r:id="rId17"/>
    <p:sldId id="286" r:id="rId18"/>
    <p:sldId id="285" r:id="rId19"/>
    <p:sldId id="287" r:id="rId20"/>
    <p:sldId id="281" r:id="rId21"/>
    <p:sldId id="282" r:id="rId22"/>
    <p:sldId id="283" r:id="rId23"/>
    <p:sldId id="26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26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3" autoAdjust="0"/>
    <p:restoredTop sz="94660"/>
  </p:normalViewPr>
  <p:slideViewPr>
    <p:cSldViewPr snapToGrid="0" showGuides="1">
      <p:cViewPr varScale="1">
        <p:scale>
          <a:sx n="88" d="100"/>
          <a:sy n="88" d="100"/>
        </p:scale>
        <p:origin x="348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3AE6-8AB5-A550-CD50-98A4A81C29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0E622D-A0F3-22D3-3CDD-6B549C889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76C6F-01BB-520A-9B93-25F699AFE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A99A3-38B0-AAC1-DAA4-517904A4B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DC4FE-311B-CD4A-8012-8D0442E26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739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B9EDC-DA35-A8FB-7E57-C03741A4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22DC5-DC33-639D-D18E-75602D423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EE082-A8B2-DC53-355B-3E00A9C91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73ABC-7793-2765-CD7B-6DB846F45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D5E448-005A-58DC-1658-1BE9BF5C6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255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00DF6-CC64-2C91-4EE0-40D08BD76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6B5E54-96C4-ACDD-9C6E-A4C39D4569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7EB5F-11E6-62B8-E2F6-81265BC53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69D9A2-7109-26B4-82EE-60D42D56B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5CE8B-22D8-32D1-A927-D21FA51A1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395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E051-B52A-7DD7-E18F-DBF782595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DEBCF-BF6C-A466-2C4C-AFB0E5FE19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B151B-0163-51E7-A43D-AE730C5741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6477A-BDE6-64DF-B0F0-62B62D4C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E7560B-98A0-321F-31F7-39772877E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CAAF-0AFD-6931-860E-1E2EA3529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547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1585D-3C27-544D-6D8A-76CEB4248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3F3415-39FD-A62B-B921-1895779DB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B81C5B-EC4C-4FCB-31FB-2B271707C8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15B9DF-E362-F87F-1422-3B17487B94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C14F41-EC9E-A182-0843-34A805E9A2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2F381D-2117-986B-4502-D13F89B92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CF4070-276C-0207-2B4D-EC2FD59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502F8B-B8D2-C496-E0EF-B5194DD46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58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F30DE-C30E-44FA-D235-C0F4382EC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9F52E-C8DD-DF18-D221-626B330BF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8D115-F2B0-0FA2-CDE0-FF67EF948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66DA1C-7077-46B0-C167-182A635C2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93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2EDFC3-1896-D071-D1DD-B035D68BE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71F78E-A655-5C87-F795-4AC80F8E8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CED59-6D3C-6413-B5AF-56F40B3C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18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1C06-7796-5812-4668-CE26DB5C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0EDD1-9489-5854-E24B-7F2116495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62DD92-66FF-F64C-6E43-8DDD283F0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3E873-4E3A-A3D1-CBA1-4B1AD4156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68EC79-4D5E-8D55-CF4F-28BFBBB97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2EF7B8-01E0-E937-2F66-430B6AC8C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50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49A96-86A6-5581-FC5D-0A311BFFD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3CF8C2-2D6C-062A-9C00-472FCAB594B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442B12-E2B8-F79D-B04E-99494BF43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3FC7C-BB01-F04F-9FD3-B34D9CA8D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94DB32-20C2-D42B-82E1-F1A8B1EF4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E7507C-DE77-94E6-AD34-DA03F1996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44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3FD1B-DAEE-D10B-C250-C01AD98E4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E6E81E-C7ED-CFD8-DDBF-06C48B287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F94F28-736D-2090-8B01-AC219B17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07C9D-D802-2AC6-2EC9-3BFF530D8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72BFE-01BE-B6CD-6B7F-95B589242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017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0F193C-14E9-DEF9-ADF2-A7F6E6EF19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186D8-0A8A-8D96-8F82-886F1F60DC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FD895-23E4-282F-71B6-0DC124EA6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2B290-E20D-589D-8B41-FB7A6D76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97FD9-77BA-6A1F-25A0-9D4F28423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433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CA0BB3-6FC3-9CF4-57D9-439AD3A1E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640C1-A33F-14CD-8928-A202D0955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3C04F-28D7-B789-F28C-32664600AF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705D94-0FB1-4D70-9A36-83B31B287B38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F055F-4AE8-FD39-7299-D5F8151C78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A3ABA6-79EE-0206-18F1-2464009EC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D2EF53-31ED-400C-952E-6FDC73E48F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976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pectreconsole.net/cli/" TargetMode="External"/><Relationship Id="rId2" Type="http://schemas.openxmlformats.org/officeDocument/2006/relationships/hyperlink" Target="https://www.nuget.org/packages/System.CommandLine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Z6e5ZP9y3_8&amp;t=1200s" TargetMode="External"/><Relationship Id="rId4" Type="http://schemas.openxmlformats.org/officeDocument/2006/relationships/hyperlink" Target="https://github.com/KathleenDollard/DragonFruit2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10.jpg"/><Relationship Id="rId7" Type="http://schemas.openxmlformats.org/officeDocument/2006/relationships/image" Target="../media/image12.jpe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5.jpeg"/><Relationship Id="rId10" Type="http://schemas.openxmlformats.org/officeDocument/2006/relationships/image" Target="../media/image15.jpg"/><Relationship Id="rId4" Type="http://schemas.openxmlformats.org/officeDocument/2006/relationships/image" Target="../media/image11.jpeg"/><Relationship Id="rId9" Type="http://schemas.openxmlformats.org/officeDocument/2006/relationships/image" Target="../media/image14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3816-8300-E85F-1ED0-414DE78FD3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Creating great CLIs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A458C1-FDFF-9778-4931-AD5FA7AE93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Kathleen Dollard</a:t>
            </a:r>
          </a:p>
          <a:p>
            <a:r>
              <a:rPr lang="en-US" dirty="0"/>
              <a:t>.NET Connoisseur</a:t>
            </a:r>
          </a:p>
        </p:txBody>
      </p:sp>
    </p:spTree>
    <p:extLst>
      <p:ext uri="{BB962C8B-B14F-4D97-AF65-F5344CB8AC3E}">
        <p14:creationId xmlns:p14="http://schemas.microsoft.com/office/powerpoint/2010/main" val="26523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343A-67BB-1BCA-0E84-20B977CC1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C805E-F8B1-AC60-116E-93E29239D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CLIs are ubiquitous – and they have never been more important.</a:t>
            </a:r>
          </a:p>
          <a:p>
            <a:r>
              <a:rPr lang="en-US" dirty="0"/>
              <a:t>Your guide….NET CLI…</a:t>
            </a:r>
            <a:r>
              <a:rPr lang="en-US" dirty="0" err="1"/>
              <a:t>System.CommandLine</a:t>
            </a:r>
            <a:endParaRPr lang="en-US" dirty="0"/>
          </a:p>
          <a:p>
            <a:r>
              <a:rPr lang="en-US" dirty="0"/>
              <a:t>has guided many people in CLI design. </a:t>
            </a:r>
          </a:p>
          <a:p>
            <a:r>
              <a:rPr lang="en-US" dirty="0"/>
              <a:t>…all CLIs…are languages – domain specific languages or DSLs. </a:t>
            </a:r>
          </a:p>
          <a:p>
            <a:r>
              <a:rPr lang="en-US" dirty="0"/>
              <a:t>They…have a special gift for you and your users of strong user expectations leading to fewer decisions for you</a:t>
            </a:r>
          </a:p>
          <a:p>
            <a:r>
              <a:rPr lang="en-US" dirty="0"/>
              <a:t>Looking to the future, CLI First design strategy results in human and AI friendly interfaces that are easy to explore and a good basis for modeling APIs</a:t>
            </a:r>
          </a:p>
        </p:txBody>
      </p:sp>
    </p:spTree>
    <p:extLst>
      <p:ext uri="{BB962C8B-B14F-4D97-AF65-F5344CB8AC3E}">
        <p14:creationId xmlns:p14="http://schemas.microsoft.com/office/powerpoint/2010/main" val="11399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89771-04E0-E454-EE70-1A3FBFEED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DB5BD-A77D-3CC6-545F-F1DDC918D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CLI rules/guidelines</a:t>
            </a:r>
          </a:p>
          <a:p>
            <a:r>
              <a:rPr lang="en-US" dirty="0"/>
              <a:t>Syntax building blocks</a:t>
            </a:r>
          </a:p>
          <a:p>
            <a:r>
              <a:rPr lang="en-US" dirty="0"/>
              <a:t>Designing your syntax</a:t>
            </a:r>
          </a:p>
          <a:p>
            <a:r>
              <a:rPr lang="en-US" dirty="0"/>
              <a:t>Using tools</a:t>
            </a:r>
          </a:p>
        </p:txBody>
      </p:sp>
    </p:spTree>
    <p:extLst>
      <p:ext uri="{BB962C8B-B14F-4D97-AF65-F5344CB8AC3E}">
        <p14:creationId xmlns:p14="http://schemas.microsoft.com/office/powerpoint/2010/main" val="1527888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D2E78-68ED-AE12-6529-B117255BC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F9E6D-205B-02BF-B1C6-459430AB0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 err="1"/>
              <a:t>System.CommandLine</a:t>
            </a:r>
            <a:r>
              <a:rPr lang="en-US" sz="2400" b="1" dirty="0"/>
              <a:t>,</a:t>
            </a:r>
            <a:r>
              <a:rPr lang="en-US" sz="2400" dirty="0"/>
              <a:t>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the parser used by the .NET CLI and most Microsoft </a:t>
            </a:r>
            <a:r>
              <a:rPr lang="en-US" sz="2400" dirty="0"/>
              <a:t>.NET Tools,</a:t>
            </a:r>
            <a:r>
              <a:rPr lang="en-US" sz="2400" b="1" dirty="0"/>
              <a:t> </a:t>
            </a:r>
            <a:r>
              <a:rPr lang="en-US" sz="2400" dirty="0">
                <a:hlinkClick r:id="rId2"/>
              </a:rPr>
              <a:t>https://www.nuget.org/packages/System.CommandLine</a:t>
            </a:r>
            <a:endParaRPr lang="en-US" sz="2400" dirty="0"/>
          </a:p>
          <a:p>
            <a:r>
              <a:rPr lang="en-US" sz="2400" b="1" dirty="0" err="1"/>
              <a:t>Spectre.Console.Cli</a:t>
            </a:r>
            <a:r>
              <a:rPr lang="en-US" sz="2400" b="1" dirty="0"/>
              <a:t>,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third party parser which also has awesome terminal </a:t>
            </a:r>
            <a:r>
              <a:rPr lang="en-US" sz="2400" dirty="0"/>
              <a:t>widgets, </a:t>
            </a:r>
            <a:r>
              <a:rPr lang="en-US" sz="2400" dirty="0">
                <a:hlinkClick r:id="rId3"/>
              </a:rPr>
              <a:t>https://spectreconsole.net/cli/</a:t>
            </a:r>
            <a:r>
              <a:rPr lang="en-US" sz="2400" dirty="0"/>
              <a:t> </a:t>
            </a:r>
          </a:p>
          <a:p>
            <a:r>
              <a:rPr lang="en-US" sz="2400" b="1" dirty="0"/>
              <a:t>Cocona, </a:t>
            </a:r>
            <a:r>
              <a:rPr lang="en-US" sz="2400" dirty="0"/>
              <a:t>now archived, but it has a nice UI</a:t>
            </a:r>
          </a:p>
          <a:p>
            <a:r>
              <a:rPr lang="en-US" sz="2400" b="1" dirty="0"/>
              <a:t>DragonFruit2,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wrapper for </a:t>
            </a:r>
            <a:r>
              <a:rPr lang="en-US" sz="2400" dirty="0" err="1">
                <a:solidFill>
                  <a:schemeClr val="accent5">
                    <a:lumMod val="75000"/>
                  </a:schemeClr>
                </a:solidFill>
              </a:rPr>
              <a:t>System.CommandLine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 that replaces API calls with Roslyn generation from classes and methods – early development</a:t>
            </a:r>
            <a:r>
              <a:rPr lang="en-US" sz="2400" dirty="0"/>
              <a:t>, </a:t>
            </a:r>
            <a:r>
              <a:rPr lang="en-US" sz="2400" dirty="0">
                <a:hlinkClick r:id="rId4"/>
              </a:rPr>
              <a:t>https://github.com/KathleenDollard/DragonFruit2</a:t>
            </a:r>
            <a:r>
              <a:rPr lang="en-US" sz="2400" dirty="0"/>
              <a:t> </a:t>
            </a:r>
            <a:endParaRPr lang="en-US" sz="2400" b="1" dirty="0"/>
          </a:p>
          <a:p>
            <a:r>
              <a:rPr lang="en-US" sz="2400" b="1" dirty="0"/>
              <a:t>TUIs are back…, </a:t>
            </a:r>
            <a:r>
              <a:rPr lang="en-US" sz="2400" dirty="0"/>
              <a:t>Andres Pineda,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GUI like terminal interfaces </a:t>
            </a:r>
            <a:r>
              <a:rPr lang="en-US" sz="2400" dirty="0">
                <a:hlinkClick r:id="rId5"/>
              </a:rPr>
              <a:t>https://www.youtube.com/watch?v=Z6e5ZP9y3_8&amp;t=1200s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11265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Content Placeholder 4" descr="Trophy against golden sky background">
            <a:extLst>
              <a:ext uri="{FF2B5EF4-FFF2-40B4-BE49-F238E27FC236}">
                <a16:creationId xmlns:a16="http://schemas.microsoft.com/office/drawing/2014/main" id="{83D1EC23-DB4B-80E0-3306-69CE90FC9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B7D3908-3327-2FD4-4A61-933CB5555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8508" y="843063"/>
            <a:ext cx="3445766" cy="1997413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4400" dirty="0"/>
              <a:t>It won</a:t>
            </a:r>
          </a:p>
          <a:p>
            <a:pPr marL="0" indent="0">
              <a:buNone/>
            </a:pPr>
            <a:r>
              <a:rPr lang="en-US" sz="2400" dirty="0"/>
              <a:t>POSIX is the standard behind almost all CLIs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72F33A-4ADB-CDF5-F5DC-3FFFFD2A4015}"/>
              </a:ext>
            </a:extLst>
          </p:cNvPr>
          <p:cNvSpPr txBox="1"/>
          <p:nvPr/>
        </p:nvSpPr>
        <p:spPr>
          <a:xfrm>
            <a:off x="6361889" y="4595097"/>
            <a:ext cx="5337243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400" dirty="0"/>
              <a:t>I recommend </a:t>
            </a:r>
            <a:r>
              <a:rPr lang="en-US" sz="2400" dirty="0" err="1"/>
              <a:t>System.CommandLine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for public CLIs because it matches the POSIX interpretation of the .NET CLI </a:t>
            </a:r>
          </a:p>
        </p:txBody>
      </p:sp>
      <p:sp>
        <p:nvSpPr>
          <p:cNvPr id="14" name="Overlay">
            <a:extLst>
              <a:ext uri="{FF2B5EF4-FFF2-40B4-BE49-F238E27FC236}">
                <a16:creationId xmlns:a16="http://schemas.microsoft.com/office/drawing/2014/main" id="{D959A522-0CEF-7352-7ED6-4CA0C0F286AD}"/>
              </a:ext>
            </a:extLst>
          </p:cNvPr>
          <p:cNvSpPr txBox="1">
            <a:spLocks/>
          </p:cNvSpPr>
          <p:nvPr/>
        </p:nvSpPr>
        <p:spPr>
          <a:xfrm>
            <a:off x="701462" y="419192"/>
            <a:ext cx="3445765" cy="172737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200">
                <a:solidFill>
                  <a:srgbClr val="1D2645"/>
                </a:solidFill>
              </a:rPr>
              <a:t>Use POSIX standard</a:t>
            </a:r>
            <a:endParaRPr lang="en-US" sz="5200" dirty="0">
              <a:solidFill>
                <a:srgbClr val="1D2645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CE35D3-03E9-6350-8223-7AB2C71DB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508" y="419192"/>
            <a:ext cx="3445765" cy="172737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200" dirty="0">
                <a:solidFill>
                  <a:schemeClr val="bg1"/>
                </a:solidFill>
              </a:rPr>
              <a:t>Use POSIX standard</a:t>
            </a:r>
          </a:p>
        </p:txBody>
      </p:sp>
    </p:spTree>
    <p:extLst>
      <p:ext uri="{BB962C8B-B14F-4D97-AF65-F5344CB8AC3E}">
        <p14:creationId xmlns:p14="http://schemas.microsoft.com/office/powerpoint/2010/main" val="91032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allAtOnce"/>
      <p:bldP spid="13" grpId="0" animBg="1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D7DE60-FC4B-F6BC-B83C-FA52284E2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pencil drawing a line on a white surface">
            <a:extLst>
              <a:ext uri="{FF2B5EF4-FFF2-40B4-BE49-F238E27FC236}">
                <a16:creationId xmlns:a16="http://schemas.microsoft.com/office/drawing/2014/main" id="{5E1A5859-6EB8-A81A-D542-0E3715A951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84" r="-1" b="-1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6EE3E7-ACD4-155E-0DFC-88451D3BD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87" y="827754"/>
            <a:ext cx="4540157" cy="1824655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dirty="0"/>
              <a:t>Do not write a CLI parser!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FFBE9-9A53-EC3C-D080-8B642917B17D}"/>
              </a:ext>
            </a:extLst>
          </p:cNvPr>
          <p:cNvSpPr txBox="1"/>
          <p:nvPr/>
        </p:nvSpPr>
        <p:spPr>
          <a:xfrm>
            <a:off x="6376790" y="3722452"/>
            <a:ext cx="54001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/>
              <a:t>There are many good ones, including those in Resources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23161-CB81-3561-9983-3D5789712749}"/>
              </a:ext>
            </a:extLst>
          </p:cNvPr>
          <p:cNvSpPr txBox="1"/>
          <p:nvPr/>
        </p:nvSpPr>
        <p:spPr>
          <a:xfrm>
            <a:off x="3701684" y="4867073"/>
            <a:ext cx="8075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/>
              <a:t>Getting POSIX correct is harder than you think</a:t>
            </a:r>
          </a:p>
        </p:txBody>
      </p:sp>
    </p:spTree>
    <p:extLst>
      <p:ext uri="{BB962C8B-B14F-4D97-AF65-F5344CB8AC3E}">
        <p14:creationId xmlns:p14="http://schemas.microsoft.com/office/powerpoint/2010/main" val="1336547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591030-C2F0-5B0A-8591-B34DAD43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/>
              <a:t>CLIs can never change, but can be extended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26289-4B58-8053-794B-413A39455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0" y="2470244"/>
            <a:ext cx="5723306" cy="376983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/>
              <a:t>Expect your CLI to be used in scripts</a:t>
            </a:r>
          </a:p>
          <a:p>
            <a:pPr marL="0" indent="0">
              <a:buNone/>
            </a:pPr>
            <a:r>
              <a:rPr lang="en-US" sz="2400" dirty="0"/>
              <a:t>You will not know who wrote scripts</a:t>
            </a:r>
          </a:p>
          <a:p>
            <a:pPr marL="0" indent="0">
              <a:buNone/>
            </a:pPr>
            <a:r>
              <a:rPr lang="en-US" sz="2400" dirty="0"/>
              <a:t>Scripts will break if you change your CLI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000" dirty="0"/>
              <a:t>This may not apply to in-house or personal scripts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5" name="Picture 4" descr="Connection concepts with climbing ropes">
            <a:extLst>
              <a:ext uri="{FF2B5EF4-FFF2-40B4-BE49-F238E27FC236}">
                <a16:creationId xmlns:a16="http://schemas.microsoft.com/office/drawing/2014/main" id="{DBA0AB91-ECB9-5DAE-7972-AA0B95EBDB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6" r="-1" b="-1"/>
          <a:stretch>
            <a:fillRect/>
          </a:stretch>
        </p:blipFill>
        <p:spPr>
          <a:xfrm rot="5400000">
            <a:off x="6090456" y="756455"/>
            <a:ext cx="6868886" cy="5334204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21087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DFF71-CFA7-1431-B21E-EC433C2C1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DDE5277-1A40-9BD3-A867-C68DFBC0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Respect </a:t>
            </a:r>
            <a:r>
              <a:rPr lang="en-US" sz="32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stdout</a:t>
            </a:r>
            <a:r>
              <a:rPr lang="en-US" dirty="0"/>
              <a:t> and </a:t>
            </a:r>
            <a:r>
              <a:rPr lang="en-US" sz="32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stderr</a:t>
            </a:r>
            <a:endParaRPr lang="en-US" sz="4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A8E3FDE-65AC-A640-5AF0-A7CC87729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09535" y="4508760"/>
            <a:ext cx="5181600" cy="16491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Limit </a:t>
            </a:r>
            <a:r>
              <a:rPr lang="en-US" sz="20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stdout</a:t>
            </a:r>
            <a:r>
              <a:rPr lang="en-US" dirty="0"/>
              <a:t> to data output</a:t>
            </a:r>
          </a:p>
          <a:p>
            <a:r>
              <a:rPr lang="en-US" sz="1900" dirty="0"/>
              <a:t>It may be piped to another command</a:t>
            </a:r>
          </a:p>
          <a:p>
            <a:r>
              <a:rPr lang="en-US" sz="16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Console.WriteLine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(</a:t>
            </a:r>
            <a:r>
              <a:rPr lang="en-US" sz="1600" dirty="0"/>
              <a:t>…</a:t>
            </a:r>
          </a:p>
          <a:p>
            <a:r>
              <a:rPr lang="en-US" sz="1900" dirty="0"/>
              <a:t>Consider a –debug switch for extra output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AA374B3-65B8-3512-8DF7-718A32C5BD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38154" y="4508758"/>
            <a:ext cx="5659876" cy="1397439"/>
          </a:xfrm>
        </p:spPr>
        <p:txBody>
          <a:bodyPr vert="horz" lIns="91440" tIns="45720" rIns="91440" bIns="45720" rtlCol="0">
            <a:noAutofit/>
          </a:bodyPr>
          <a:lstStyle/>
          <a:p>
            <a:pPr marL="0" indent="0">
              <a:buNone/>
            </a:pPr>
            <a:r>
              <a:rPr lang="en-US" dirty="0"/>
              <a:t>Limit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stderr</a:t>
            </a:r>
            <a:r>
              <a:rPr lang="en-US" dirty="0"/>
              <a:t> to warnings and errors</a:t>
            </a:r>
          </a:p>
          <a:p>
            <a:r>
              <a:rPr lang="en-US" sz="1900" dirty="0"/>
              <a:t>Also, return zero for success and </a:t>
            </a:r>
            <a:br>
              <a:rPr lang="en-US" sz="1900" dirty="0"/>
            </a:br>
            <a:r>
              <a:rPr lang="en-US" sz="1900" dirty="0"/>
              <a:t>non-zero when there are errors</a:t>
            </a:r>
          </a:p>
          <a:p>
            <a:r>
              <a:rPr lang="en-US" sz="16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Console.Error.WriteLine</a:t>
            </a:r>
            <a:r>
              <a:rPr lang="en-US" sz="1600" dirty="0"/>
              <a:t>(…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5" name="Picture 14" descr="A teddy bear">
            <a:extLst>
              <a:ext uri="{FF2B5EF4-FFF2-40B4-BE49-F238E27FC236}">
                <a16:creationId xmlns:a16="http://schemas.microsoft.com/office/drawing/2014/main" id="{77DF2672-855F-B724-0FA6-4D74AD6F9C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05" t="21139" r="3239" b="2320"/>
          <a:stretch>
            <a:fillRect/>
          </a:stretch>
        </p:blipFill>
        <p:spPr>
          <a:xfrm>
            <a:off x="909535" y="1454077"/>
            <a:ext cx="5047021" cy="2941702"/>
          </a:xfrm>
          <a:prstGeom prst="rect">
            <a:avLst/>
          </a:prstGeom>
        </p:spPr>
      </p:pic>
      <p:pic>
        <p:nvPicPr>
          <p:cNvPr id="17" name="Picture 16" descr="Damaged teddy bear">
            <a:extLst>
              <a:ext uri="{FF2B5EF4-FFF2-40B4-BE49-F238E27FC236}">
                <a16:creationId xmlns:a16="http://schemas.microsoft.com/office/drawing/2014/main" id="{E6BE33E3-8383-40EA-D85A-0A3DD3D8B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" t="15121" r="22646" b="8387"/>
          <a:stretch>
            <a:fillRect/>
          </a:stretch>
        </p:blipFill>
        <p:spPr>
          <a:xfrm>
            <a:off x="6201386" y="1454076"/>
            <a:ext cx="4990289" cy="294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88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allAtOnce"/>
      <p:bldP spid="13" grpId="0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EA40C-8FFB-AC2B-2C96-4302857C0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Dog under snow">
            <a:extLst>
              <a:ext uri="{FF2B5EF4-FFF2-40B4-BE49-F238E27FC236}">
                <a16:creationId xmlns:a16="http://schemas.microsoft.com/office/drawing/2014/main" id="{FBD8CB04-1F41-3861-FC0A-142FDBBF92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03" t="16728" r="2" b="19879"/>
          <a:stretch>
            <a:fillRect/>
          </a:stretch>
        </p:blipFill>
        <p:spPr>
          <a:xfrm>
            <a:off x="0" y="-1"/>
            <a:ext cx="12192000" cy="6917635"/>
          </a:xfrm>
        </p:spPr>
      </p:pic>
      <p:pic>
        <p:nvPicPr>
          <p:cNvPr id="12" name="Picture 11" descr="The image shows a Windows PowerShell command prompt window with a list of commands for managing .NET tools.&#10;&#10;AI-generated content may be incorrect.">
            <a:extLst>
              <a:ext uri="{FF2B5EF4-FFF2-40B4-BE49-F238E27FC236}">
                <a16:creationId xmlns:a16="http://schemas.microsoft.com/office/drawing/2014/main" id="{58E73C88-6D7A-89CA-37BB-7382091342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8" t="1637" r="38914" b="4574"/>
          <a:stretch>
            <a:fillRect/>
          </a:stretch>
        </p:blipFill>
        <p:spPr>
          <a:xfrm>
            <a:off x="5685605" y="2519916"/>
            <a:ext cx="6506395" cy="43977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6DBC45B-4A6E-E9DA-D067-675B4AC9E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en-US" sz="5400" dirty="0"/>
              <a:t>Help is essential</a:t>
            </a:r>
          </a:p>
        </p:txBody>
      </p:sp>
    </p:spTree>
    <p:extLst>
      <p:ext uri="{BB962C8B-B14F-4D97-AF65-F5344CB8AC3E}">
        <p14:creationId xmlns:p14="http://schemas.microsoft.com/office/powerpoint/2010/main" val="387951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F0E49-7277-EA5A-F053-1115FE4A7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Isolate your parser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70EFE-7DC3-D74C-B93F-3F8C7680A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0640" y="1798161"/>
            <a:ext cx="9745980" cy="4351338"/>
          </a:xfrm>
        </p:spPr>
        <p:txBody>
          <a:bodyPr/>
          <a:lstStyle/>
          <a:p>
            <a:r>
              <a:rPr lang="en-US" dirty="0"/>
              <a:t>Generally, with a Library project for functionality and a Console project for the parser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Skip this for near-trivial CLIs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CFE9228-852E-FD1E-DEF3-BC6118A3DC0E}"/>
              </a:ext>
            </a:extLst>
          </p:cNvPr>
          <p:cNvGrpSpPr/>
          <p:nvPr/>
        </p:nvGrpSpPr>
        <p:grpSpPr>
          <a:xfrm>
            <a:off x="1607820" y="3032760"/>
            <a:ext cx="7620000" cy="1028700"/>
            <a:chOff x="2286000" y="4312920"/>
            <a:chExt cx="7620000" cy="102870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A91AD04-1B1C-BBCB-B351-4D41F3DA6643}"/>
                </a:ext>
              </a:extLst>
            </p:cNvPr>
            <p:cNvSpPr/>
            <p:nvPr/>
          </p:nvSpPr>
          <p:spPr>
            <a:xfrm>
              <a:off x="2286000" y="4312920"/>
              <a:ext cx="3444240" cy="1028700"/>
            </a:xfrm>
            <a:prstGeom prst="round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HelloWorldConsole.exe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196FF44-1A27-FE51-6EB1-D08100F93484}"/>
                </a:ext>
              </a:extLst>
            </p:cNvPr>
            <p:cNvSpPr/>
            <p:nvPr/>
          </p:nvSpPr>
          <p:spPr>
            <a:xfrm>
              <a:off x="6461760" y="4312920"/>
              <a:ext cx="3444240" cy="1028700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/>
                <a:t>HelloWorld.lib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B8F5E8C-7CA9-E185-40D3-29B7C432EBAA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5730240" y="4827270"/>
              <a:ext cx="7315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18521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14DD9-31BC-57A5-4E75-EBA6A8970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 careful with 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058B3-05B9-DDC8-8C04-BEE97FB3B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66205"/>
            <a:ext cx="10515600" cy="3510757"/>
          </a:xfrm>
        </p:spPr>
        <p:txBody>
          <a:bodyPr/>
          <a:lstStyle/>
          <a:p>
            <a:r>
              <a:rPr lang="en-US" dirty="0"/>
              <a:t>They will cause scripts to freeze (not error)</a:t>
            </a:r>
          </a:p>
          <a:p>
            <a:r>
              <a:rPr lang="en-US" dirty="0"/>
              <a:t>Confirmation prompts can be annoying</a:t>
            </a:r>
          </a:p>
          <a:p>
            <a:r>
              <a:rPr lang="en-US" dirty="0"/>
              <a:t>Prompts for required information are nice, but not in scripts</a:t>
            </a:r>
          </a:p>
          <a:p>
            <a:r>
              <a:rPr lang="en-US" dirty="0"/>
              <a:t>Use a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--force</a:t>
            </a:r>
            <a:r>
              <a:rPr lang="en-US" dirty="0"/>
              <a:t> option to avoid prompts</a:t>
            </a:r>
          </a:p>
          <a:p>
            <a:pPr lvl="1"/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-f</a:t>
            </a:r>
            <a:r>
              <a:rPr lang="en-US" dirty="0"/>
              <a:t> is also used for other things, so I dislike its use for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--force</a:t>
            </a:r>
            <a:endParaRPr lang="en-US" sz="16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</p:txBody>
      </p:sp>
      <p:pic>
        <p:nvPicPr>
          <p:cNvPr id="5" name="Graphic 4" descr="Warning with solid fill">
            <a:extLst>
              <a:ext uri="{FF2B5EF4-FFF2-40B4-BE49-F238E27FC236}">
                <a16:creationId xmlns:a16="http://schemas.microsoft.com/office/drawing/2014/main" id="{7B5C4686-98C4-8FB5-3A67-77EFF8194A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4360" y="0"/>
            <a:ext cx="3787140" cy="378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259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5AAF9-C3B9-CDCA-EA32-4F7346BE2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style and ecosystem traditions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BDF0B-F043-99E9-9D42-4C86EF8E3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67060" cy="4351338"/>
          </a:xfrm>
        </p:spPr>
        <p:txBody>
          <a:bodyPr/>
          <a:lstStyle/>
          <a:p>
            <a:r>
              <a:rPr lang="en-US" dirty="0"/>
              <a:t>Kebab case for multiple words</a:t>
            </a:r>
          </a:p>
          <a:p>
            <a:r>
              <a:rPr lang="en-US" dirty="0"/>
              <a:t>Case sensitive </a:t>
            </a:r>
            <a:r>
              <a:rPr lang="en-US" sz="2400" dirty="0"/>
              <a:t>(and yes, I hate this)</a:t>
            </a:r>
          </a:p>
          <a:p>
            <a:r>
              <a:rPr lang="en-US" sz="2400" dirty="0"/>
              <a:t>Option names are prefixed with a double dash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--</a:t>
            </a:r>
            <a:endParaRPr lang="en-US" sz="24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  <a:p>
            <a:r>
              <a:rPr lang="en-US" sz="2400" dirty="0"/>
              <a:t>One letter abbreviations are prefixed with a dash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</a:t>
            </a:r>
          </a:p>
          <a:p>
            <a:pPr lvl="1"/>
            <a:r>
              <a:rPr lang="en-US" sz="2000" dirty="0"/>
              <a:t>You only have 23-25: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-h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 </a:t>
            </a:r>
            <a:r>
              <a:rPr lang="en-US" sz="2000" dirty="0"/>
              <a:t>is taken,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-f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 </a:t>
            </a:r>
            <a:r>
              <a:rPr lang="en-US" sz="2000" dirty="0"/>
              <a:t>and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–v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 </a:t>
            </a:r>
            <a:r>
              <a:rPr lang="en-US" sz="2000" dirty="0"/>
              <a:t>have standard meanings (2 for each ☹️)</a:t>
            </a:r>
          </a:p>
          <a:p>
            <a:pPr lvl="1"/>
            <a:r>
              <a:rPr lang="en-US" sz="2000" dirty="0"/>
              <a:t>You can use capitals, but may cause confusion 😟</a:t>
            </a:r>
          </a:p>
          <a:p>
            <a:r>
              <a:rPr lang="en-US" sz="2400" dirty="0"/>
              <a:t>Use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--</a:t>
            </a:r>
            <a:r>
              <a:rPr lang="en-US" sz="2400" dirty="0"/>
              <a:t> for multi-letter abbreviations to avoid conflict with stacking/coalescing</a:t>
            </a:r>
          </a:p>
          <a:p>
            <a:pPr lvl="1"/>
            <a:r>
              <a:rPr lang="en-US" sz="2000" dirty="0"/>
              <a:t>This can be helpful for long words</a:t>
            </a:r>
          </a:p>
          <a:p>
            <a:r>
              <a:rPr lang="en-US" sz="2400" dirty="0"/>
              <a:t>A double dash</a:t>
            </a:r>
            <a:r>
              <a:rPr lang="en-US" sz="1800" dirty="0"/>
              <a:t>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--</a:t>
            </a:r>
            <a:r>
              <a:rPr lang="en-US" sz="1800" dirty="0"/>
              <a:t> </a:t>
            </a:r>
            <a:r>
              <a:rPr lang="en-US" sz="2400" dirty="0"/>
              <a:t>appearing alone passes the rest of the line to the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633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30E25B2-D3F7-3761-39B3-779282D8F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1828A-5384-73F3-DC4A-E19EA8102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stderr and </a:t>
            </a:r>
            <a:r>
              <a:rPr lang="en-US" dirty="0" err="1"/>
              <a:t>stdout</a:t>
            </a:r>
            <a:r>
              <a:rPr lang="en-US" dirty="0"/>
              <a:t> have different purposes </a:t>
            </a:r>
          </a:p>
        </p:txBody>
      </p:sp>
      <p:pic>
        <p:nvPicPr>
          <p:cNvPr id="5" name="Content Placeholder 4" descr="Shark warning flag">
            <a:extLst>
              <a:ext uri="{FF2B5EF4-FFF2-40B4-BE49-F238E27FC236}">
                <a16:creationId xmlns:a16="http://schemas.microsoft.com/office/drawing/2014/main" id="{A23C8969-DBE3-1028-0E0E-1CDBF50E43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7661" y="5127800"/>
            <a:ext cx="2434188" cy="1622792"/>
          </a:xfrm>
        </p:spPr>
      </p:pic>
      <p:pic>
        <p:nvPicPr>
          <p:cNvPr id="7" name="Picture 6" descr="Arrows showing direction">
            <a:extLst>
              <a:ext uri="{FF2B5EF4-FFF2-40B4-BE49-F238E27FC236}">
                <a16:creationId xmlns:a16="http://schemas.microsoft.com/office/drawing/2014/main" id="{0E7AADBB-6191-2400-E327-45D782B75B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88" y="4943648"/>
            <a:ext cx="2623507" cy="1748578"/>
          </a:xfrm>
          <a:prstGeom prst="rect">
            <a:avLst/>
          </a:prstGeom>
        </p:spPr>
      </p:pic>
      <p:pic>
        <p:nvPicPr>
          <p:cNvPr id="9" name="Picture 8" descr="Torn rope">
            <a:extLst>
              <a:ext uri="{FF2B5EF4-FFF2-40B4-BE49-F238E27FC236}">
                <a16:creationId xmlns:a16="http://schemas.microsoft.com/office/drawing/2014/main" id="{2583A774-2204-CBBF-AC65-4C219EF30B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7660" y="3479378"/>
            <a:ext cx="2464340" cy="1643758"/>
          </a:xfrm>
          <a:prstGeom prst="rect">
            <a:avLst/>
          </a:prstGeom>
        </p:spPr>
      </p:pic>
      <p:pic>
        <p:nvPicPr>
          <p:cNvPr id="11" name="Picture 10" descr="Damaged teddy bear">
            <a:extLst>
              <a:ext uri="{FF2B5EF4-FFF2-40B4-BE49-F238E27FC236}">
                <a16:creationId xmlns:a16="http://schemas.microsoft.com/office/drawing/2014/main" id="{67C51C07-790E-B480-1AD6-4C0982B74D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9503" y="1789165"/>
            <a:ext cx="2844039" cy="1690213"/>
          </a:xfrm>
          <a:prstGeom prst="rect">
            <a:avLst/>
          </a:prstGeom>
        </p:spPr>
      </p:pic>
      <p:pic>
        <p:nvPicPr>
          <p:cNvPr id="13" name="Picture 12" descr="A teddy bear">
            <a:extLst>
              <a:ext uri="{FF2B5EF4-FFF2-40B4-BE49-F238E27FC236}">
                <a16:creationId xmlns:a16="http://schemas.microsoft.com/office/drawing/2014/main" id="{FCB7EC80-F0BF-03B1-6BBF-6FE5B1B727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4739" y="0"/>
            <a:ext cx="2687109" cy="1790969"/>
          </a:xfrm>
          <a:prstGeom prst="rect">
            <a:avLst/>
          </a:prstGeom>
        </p:spPr>
      </p:pic>
      <p:pic>
        <p:nvPicPr>
          <p:cNvPr id="15" name="Picture 14" descr="Multicolored wires graphic">
            <a:extLst>
              <a:ext uri="{FF2B5EF4-FFF2-40B4-BE49-F238E27FC236}">
                <a16:creationId xmlns:a16="http://schemas.microsoft.com/office/drawing/2014/main" id="{9F21D731-1CF0-1EAF-6D59-04C39453DF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512" y="0"/>
            <a:ext cx="2291511" cy="1273062"/>
          </a:xfrm>
          <a:prstGeom prst="rect">
            <a:avLst/>
          </a:prstGeom>
        </p:spPr>
      </p:pic>
      <p:pic>
        <p:nvPicPr>
          <p:cNvPr id="17" name="Picture 16" descr="Speed lines technology abstract">
            <a:extLst>
              <a:ext uri="{FF2B5EF4-FFF2-40B4-BE49-F238E27FC236}">
                <a16:creationId xmlns:a16="http://schemas.microsoft.com/office/drawing/2014/main" id="{D4B494B9-F456-A80C-61B5-780D2EBFF7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651" y="1230218"/>
            <a:ext cx="3038817" cy="1587619"/>
          </a:xfrm>
          <a:prstGeom prst="rect">
            <a:avLst/>
          </a:prstGeom>
        </p:spPr>
      </p:pic>
      <p:pic>
        <p:nvPicPr>
          <p:cNvPr id="19" name="Picture 18" descr="Minimalist globe graphic">
            <a:extLst>
              <a:ext uri="{FF2B5EF4-FFF2-40B4-BE49-F238E27FC236}">
                <a16:creationId xmlns:a16="http://schemas.microsoft.com/office/drawing/2014/main" id="{B6A06914-13AA-C970-C9C4-B5BE2BEDB71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512" y="2817837"/>
            <a:ext cx="2101954" cy="2125811"/>
          </a:xfrm>
          <a:prstGeom prst="rect">
            <a:avLst/>
          </a:prstGeom>
        </p:spPr>
      </p:pic>
      <p:pic>
        <p:nvPicPr>
          <p:cNvPr id="4" name="Picture 3" descr="Message in a bottle floating in water">
            <a:extLst>
              <a:ext uri="{FF2B5EF4-FFF2-40B4-BE49-F238E27FC236}">
                <a16:creationId xmlns:a16="http://schemas.microsoft.com/office/drawing/2014/main" id="{4EEDF470-BF68-B9BA-9D26-971CEAA818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519" y="5159801"/>
            <a:ext cx="2338756" cy="155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9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CF07E-EAF9-C770-A810-39DF70E47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building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DD333-02E1-4E9A-71E8-642BF76FA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Commands</a:t>
            </a:r>
            <a:r>
              <a:rPr lang="en-US" dirty="0"/>
              <a:t> and subcommands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dotnet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new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 console --output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MyConsoleApp</a:t>
            </a:r>
            <a:endParaRPr lang="en-US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  <a:p>
            <a:r>
              <a:rPr lang="en-US" b="1" dirty="0"/>
              <a:t>Options</a:t>
            </a:r>
            <a:r>
              <a:rPr lang="en-US" dirty="0"/>
              <a:t> or named arguments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dotnet new console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--output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MyConsoleApp</a:t>
            </a:r>
            <a:endParaRPr lang="en-US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b="1" dirty="0"/>
              <a:t>Arguments</a:t>
            </a:r>
            <a:r>
              <a:rPr lang="en-US" dirty="0"/>
              <a:t> or positional arguments</a:t>
            </a:r>
          </a:p>
          <a:p>
            <a:pPr marL="457200" lvl="1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dotnet new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console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--output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MyConsoleApp</a:t>
            </a:r>
            <a:endParaRPr lang="en-US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/>
              <a:t>Options frequently have arguments</a:t>
            </a:r>
            <a:endParaRPr lang="en-US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dotnet new console --output </a:t>
            </a:r>
            <a:r>
              <a:rPr lang="en-US" dirty="0" err="1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MyConsoleApp</a:t>
            </a:r>
            <a:endParaRPr lang="en-US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6585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99942-41AB-FC52-6F4D-BF7A6BC02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 as Domain Specific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10C0D-AA5C-0540-2496-842428BC4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962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45081-88B7-A7EF-E46A-7B572E9F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280" y="423862"/>
            <a:ext cx="10515600" cy="1325563"/>
          </a:xfrm>
        </p:spPr>
        <p:txBody>
          <a:bodyPr/>
          <a:lstStyle/>
          <a:p>
            <a:r>
              <a:rPr lang="en-US" dirty="0"/>
              <a:t>Noun/Verb?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2B437-C5C7-FC41-5ADB-4485CCD1E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280" y="1749425"/>
            <a:ext cx="9136380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[exe name] [noun] [verb]</a:t>
            </a:r>
            <a:r>
              <a:rPr lang="en-US" dirty="0"/>
              <a:t> is not a helpful rule</a:t>
            </a:r>
          </a:p>
          <a:p>
            <a:pPr lvl="1"/>
            <a:r>
              <a:rPr lang="en-US" dirty="0"/>
              <a:t>Think instead of </a:t>
            </a:r>
            <a:r>
              <a:rPr lang="en-US" b="1" dirty="0"/>
              <a:t>areas</a:t>
            </a:r>
            <a:r>
              <a:rPr lang="en-US" dirty="0"/>
              <a:t>, perhaps with a core or implied area</a:t>
            </a:r>
          </a:p>
          <a:p>
            <a:pPr lvl="1"/>
            <a:r>
              <a:rPr lang="en-US" dirty="0"/>
              <a:t>For dotnet,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PROJECT | SOLUTION | FILE</a:t>
            </a:r>
            <a:r>
              <a:rPr lang="en-US" dirty="0"/>
              <a:t>, is the implied area</a:t>
            </a:r>
          </a:p>
          <a:p>
            <a:pPr lvl="1"/>
            <a:r>
              <a:rPr lang="en-US" dirty="0"/>
              <a:t>Noun/area first for operations other areas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      dotnet package add…</a:t>
            </a:r>
          </a:p>
          <a:p>
            <a:r>
              <a:rPr lang="en-US" dirty="0"/>
              <a:t>There are some outliers</a:t>
            </a:r>
          </a:p>
          <a:p>
            <a:pPr lvl="1"/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help </a:t>
            </a:r>
            <a:r>
              <a:rPr lang="en-US" dirty="0"/>
              <a:t>displays the </a:t>
            </a:r>
            <a:r>
              <a:rPr lang="en-US" dirty="0" err="1"/>
              <a:t>MSLearn</a:t>
            </a:r>
            <a:r>
              <a:rPr lang="en-US" dirty="0"/>
              <a:t> (docs) web page</a:t>
            </a:r>
          </a:p>
          <a:p>
            <a:pPr lvl="1"/>
            <a:r>
              <a:rPr lang="en-US" sz="20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nuget</a:t>
            </a:r>
            <a:r>
              <a:rPr lang="en-US" dirty="0"/>
              <a:t> is a separate CLI, resulting in some 3 command nesting</a:t>
            </a:r>
          </a:p>
          <a:p>
            <a:pPr lvl="1"/>
            <a:r>
              <a:rPr lang="en-US" sz="2000" dirty="0" err="1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msbuild</a:t>
            </a:r>
            <a:r>
              <a:rPr lang="en-US" dirty="0"/>
              <a:t> </a:t>
            </a:r>
            <a:r>
              <a:rPr lang="en-US" dirty="0" err="1"/>
              <a:t>acceses</a:t>
            </a:r>
            <a:r>
              <a:rPr lang="en-US" dirty="0"/>
              <a:t> a separate “CLI” with its own syntax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736D41-D447-E1F1-7EF3-FC62B08190DC}"/>
              </a:ext>
            </a:extLst>
          </p:cNvPr>
          <p:cNvSpPr txBox="1"/>
          <p:nvPr/>
        </p:nvSpPr>
        <p:spPr>
          <a:xfrm>
            <a:off x="10104120" y="681037"/>
            <a:ext cx="1790700" cy="59093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build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build-server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clean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format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help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</a:t>
            </a:r>
            <a:r>
              <a:rPr lang="en-US" sz="1800" b="0" dirty="0" err="1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msbuild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   new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nuget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pack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package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publish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reference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restore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run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sdk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solution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store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test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tool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</a:t>
            </a:r>
            <a:r>
              <a:rPr lang="en-US" sz="1800" b="0" dirty="0" err="1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vstest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workload</a:t>
            </a:r>
            <a:endParaRPr lang="en-US" sz="105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7672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36752-8F0C-AF2C-438F-9AF5591AD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085F0-490B-2323-ADB1-B9B99E829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280" y="423862"/>
            <a:ext cx="10515600" cy="1325563"/>
          </a:xfrm>
        </p:spPr>
        <p:txBody>
          <a:bodyPr/>
          <a:lstStyle/>
          <a:p>
            <a:r>
              <a:rPr lang="en-US" dirty="0"/>
              <a:t>Noun/Verb? </a:t>
            </a:r>
            <a:r>
              <a:rPr lang="en-US" sz="3200" dirty="0"/>
              <a:t>(cont’d)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17132-1684-4C9B-E4F5-D87945921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280" y="1749425"/>
            <a:ext cx="9136380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new </a:t>
            </a:r>
            <a:r>
              <a:rPr lang="en-US" dirty="0"/>
              <a:t>is generally an adjective, but is used here as a verb</a:t>
            </a:r>
          </a:p>
          <a:p>
            <a:pPr lvl="1"/>
            <a:r>
              <a:rPr lang="en-US" dirty="0"/>
              <a:t>It’s also an area because you can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install</a:t>
            </a:r>
            <a:r>
              <a:rPr lang="en-US" dirty="0"/>
              <a:t>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uninstall</a:t>
            </a:r>
            <a:r>
              <a:rPr lang="en-US" dirty="0"/>
              <a:t> &amp;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search</a:t>
            </a:r>
            <a:endParaRPr lang="en-US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  <a:p>
            <a:pPr lvl="1"/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list</a:t>
            </a:r>
            <a:r>
              <a:rPr lang="en-US" dirty="0"/>
              <a:t> means list those available, not templates in the project</a:t>
            </a:r>
          </a:p>
          <a:p>
            <a:r>
              <a:rPr lang="en-US" dirty="0"/>
              <a:t>In my experience, all CLIs are imperfect</a:t>
            </a:r>
          </a:p>
          <a:p>
            <a:pPr lvl="1"/>
            <a:r>
              <a:rPr lang="en-US" dirty="0"/>
              <a:t>The key is </a:t>
            </a:r>
            <a:r>
              <a:rPr lang="en-US" i="1" dirty="0"/>
              <a:t>does it feel OK to a new user</a:t>
            </a:r>
            <a:endParaRPr lang="en-US" dirty="0"/>
          </a:p>
          <a:p>
            <a:pPr lvl="1"/>
            <a:r>
              <a:rPr lang="en-US" dirty="0"/>
              <a:t>And remember, you can’t change as you evolve, so sometimes you just live with stuff</a:t>
            </a:r>
          </a:p>
          <a:p>
            <a:pPr lvl="1"/>
            <a:r>
              <a:rPr lang="en-US" dirty="0"/>
              <a:t>If starting from scratch,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new</a:t>
            </a:r>
            <a:r>
              <a:rPr lang="en-US" dirty="0"/>
              <a:t> might have been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template</a:t>
            </a:r>
          </a:p>
          <a:p>
            <a:r>
              <a:rPr lang="en-US" dirty="0"/>
              <a:t>As long as you start with what would be the natural core or implied area, you can add other areas later</a:t>
            </a:r>
          </a:p>
          <a:p>
            <a:pPr lvl="1"/>
            <a:endParaRPr lang="en-US" sz="2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35FFDA-EFBD-8CD4-03BE-60BF1632A394}"/>
              </a:ext>
            </a:extLst>
          </p:cNvPr>
          <p:cNvSpPr txBox="1"/>
          <p:nvPr/>
        </p:nvSpPr>
        <p:spPr>
          <a:xfrm>
            <a:off x="10104120" y="681037"/>
            <a:ext cx="1790700" cy="59093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build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build-server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clean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format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help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</a:t>
            </a:r>
            <a:r>
              <a:rPr lang="en-US" sz="1800" b="0" dirty="0" err="1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msbuild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   new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nuget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pack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package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publish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reference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restore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run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sdk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solution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store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test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tool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 </a:t>
            </a:r>
            <a:r>
              <a:rPr lang="en-US" sz="1800" b="0" dirty="0" err="1">
                <a:solidFill>
                  <a:schemeClr val="accent2">
                    <a:lumMod val="75000"/>
                  </a:schemeClr>
                </a:solidFill>
                <a:effectLst/>
                <a:latin typeface="+mn-lt"/>
              </a:rPr>
              <a:t>vstest</a:t>
            </a:r>
            <a:endParaRPr lang="en-US" sz="1800" b="0" dirty="0">
              <a:solidFill>
                <a:schemeClr val="accent2">
                  <a:lumMod val="75000"/>
                </a:schemeClr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N workload</a:t>
            </a:r>
            <a:endParaRPr lang="en-US" sz="105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432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3A54A-D7DC-5C8A-C0D9-F91910BED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very imperfect CLI: </a:t>
            </a:r>
            <a:r>
              <a:rPr lang="en-US" sz="4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git</a:t>
            </a:r>
            <a:endParaRPr lang="en-US" sz="24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A2C66-628D-020E-269C-5BF0B1853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grouped by area, see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git -h</a:t>
            </a:r>
          </a:p>
          <a:p>
            <a:r>
              <a:rPr lang="en-US" dirty="0"/>
              <a:t>Also, git uses upper- and lower-case abbreviations</a:t>
            </a:r>
          </a:p>
          <a:p>
            <a:r>
              <a:rPr lang="en-US" dirty="0"/>
              <a:t>There are a huge number of options</a:t>
            </a:r>
          </a:p>
          <a:p>
            <a:pPr lvl="1"/>
            <a:r>
              <a:rPr lang="en-US" dirty="0"/>
              <a:t>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-c</a:t>
            </a:r>
            <a:r>
              <a:rPr lang="en-US" dirty="0"/>
              <a:t> and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-C</a:t>
            </a:r>
            <a:r>
              <a:rPr lang="en-US" dirty="0"/>
              <a:t> do very different things; also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-p</a:t>
            </a:r>
            <a:r>
              <a:rPr lang="en-US" dirty="0"/>
              <a:t> and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-P</a:t>
            </a:r>
            <a:r>
              <a:rPr lang="en-US" sz="12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pPr lvl="1"/>
            <a:r>
              <a:rPr lang="en-US" dirty="0"/>
              <a:t>Isn’t that confusing?</a:t>
            </a:r>
          </a:p>
          <a:p>
            <a:r>
              <a:rPr lang="en-US" dirty="0"/>
              <a:t>There are 140+ commands, since plumbing commands are included</a:t>
            </a:r>
          </a:p>
          <a:p>
            <a:pPr lvl="1"/>
            <a:r>
              <a:rPr lang="en-US" dirty="0"/>
              <a:t>AI says you only need ten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804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2986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9C5E1-EA7D-29BC-14DB-901346186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60500"/>
          </a:xfrm>
        </p:spPr>
        <p:txBody>
          <a:bodyPr>
            <a:normAutofit/>
          </a:bodyPr>
          <a:lstStyle/>
          <a:p>
            <a:r>
              <a:rPr lang="en-US" dirty="0"/>
              <a:t>Design questions to ask</a:t>
            </a:r>
            <a:br>
              <a:rPr lang="en-US" dirty="0"/>
            </a:br>
            <a:r>
              <a:rPr lang="en-US" sz="2700" dirty="0"/>
              <a:t>Base answers on where you want your app to be in five years</a:t>
            </a:r>
            <a:br>
              <a:rPr lang="en-US" sz="2700" dirty="0"/>
            </a:br>
            <a:r>
              <a:rPr lang="en-US" sz="2700" dirty="0"/>
              <a:t>Invest brainstorming effort on this early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9A06E-65E4-DB30-A099-B3E2A8527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03119"/>
            <a:ext cx="10515600" cy="407384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are the things that will be worked on by your app?</a:t>
            </a:r>
          </a:p>
          <a:p>
            <a:pPr lvl="1"/>
            <a:r>
              <a:rPr lang="en-US" dirty="0"/>
              <a:t>These are probably areas</a:t>
            </a:r>
          </a:p>
          <a:p>
            <a:r>
              <a:rPr lang="en-US" dirty="0"/>
              <a:t>What are the actions to be performed on each thing?</a:t>
            </a:r>
          </a:p>
          <a:p>
            <a:r>
              <a:rPr lang="en-US" dirty="0"/>
              <a:t>Is there one area or do most commands work on a single area?</a:t>
            </a:r>
          </a:p>
          <a:p>
            <a:pPr lvl="1"/>
            <a:r>
              <a:rPr lang="en-US" dirty="0"/>
              <a:t>This the core area</a:t>
            </a:r>
          </a:p>
          <a:p>
            <a:r>
              <a:rPr lang="en-US" dirty="0"/>
              <a:t>What operations are common across many areas? </a:t>
            </a:r>
          </a:p>
          <a:p>
            <a:pPr lvl="1"/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add</a:t>
            </a:r>
            <a:r>
              <a:rPr lang="en-US" dirty="0"/>
              <a:t>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remove</a:t>
            </a:r>
            <a:r>
              <a:rPr lang="en-US" dirty="0"/>
              <a:t>, and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list</a:t>
            </a:r>
            <a:r>
              <a:rPr lang="en-US" dirty="0"/>
              <a:t> are common</a:t>
            </a:r>
          </a:p>
          <a:p>
            <a:r>
              <a:rPr lang="en-US" dirty="0"/>
              <a:t>Draw a tree – mermaid markdown is helpful</a:t>
            </a:r>
          </a:p>
          <a:p>
            <a:r>
              <a:rPr lang="en-US" dirty="0"/>
              <a:t>Iterate on this design</a:t>
            </a:r>
          </a:p>
          <a:p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A51763-4E63-1A2B-0E00-B69A329A8E81}"/>
              </a:ext>
            </a:extLst>
          </p:cNvPr>
          <p:cNvCxnSpPr/>
          <p:nvPr/>
        </p:nvCxnSpPr>
        <p:spPr>
          <a:xfrm flipV="1">
            <a:off x="838200" y="1767840"/>
            <a:ext cx="10515600" cy="577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49374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A7600-3160-B0AA-9241-AFEE13085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the details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DAE72-EDEE-9601-37D0-6CEA7F5F3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 your areas thoughtfully</a:t>
            </a:r>
          </a:p>
          <a:p>
            <a:pPr lvl="1"/>
            <a:r>
              <a:rPr lang="en-US" dirty="0"/>
              <a:t>Most common name, among synonyms pick short and easy to spell</a:t>
            </a:r>
          </a:p>
          <a:p>
            <a:pPr lvl="1"/>
            <a:r>
              <a:rPr lang="en-US" dirty="0"/>
              <a:t>Do not use context for naming </a:t>
            </a:r>
          </a:p>
          <a:p>
            <a:pPr lvl="1"/>
            <a:r>
              <a:rPr lang="en-US" dirty="0"/>
              <a:t>IMO, synonyms are OK if they provide a clear easy to type abbreviation</a:t>
            </a:r>
          </a:p>
          <a:p>
            <a:r>
              <a:rPr lang="en-US" dirty="0"/>
              <a:t>Use abbreviations sparingly and in clear and consistent ways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24815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4C76-98E2-B95B-2C66-F5ADB0A9F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Imperfect CLIs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8B97D-1C64-20EE-00EE-D5B1294FA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</a:t>
            </a:r>
          </a:p>
          <a:p>
            <a:pPr lvl="1"/>
            <a:r>
              <a:rPr lang="en-US" dirty="0"/>
              <a:t>Not organized by area, verbs may work on the local repository, the working tree, the history, or the remote repository</a:t>
            </a:r>
          </a:p>
          <a:p>
            <a:pPr lvl="1"/>
            <a:r>
              <a:rPr lang="en-US" dirty="0"/>
              <a:t>Massive number of options on git</a:t>
            </a:r>
          </a:p>
          <a:p>
            <a:pPr lvl="1"/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-c</a:t>
            </a:r>
            <a:r>
              <a:rPr lang="en-US" dirty="0"/>
              <a:t> and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-C</a:t>
            </a:r>
            <a:r>
              <a:rPr lang="en-US" dirty="0"/>
              <a:t> do very different things; also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-p</a:t>
            </a:r>
            <a:r>
              <a:rPr lang="en-US" dirty="0"/>
              <a:t> and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-P</a:t>
            </a:r>
          </a:p>
          <a:p>
            <a:r>
              <a:rPr lang="en-US" dirty="0"/>
              <a:t>dotnet</a:t>
            </a:r>
          </a:p>
          <a:p>
            <a:pPr lvl="1"/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new</a:t>
            </a:r>
            <a:r>
              <a:rPr lang="en-US" dirty="0"/>
              <a:t> is not a noun, it’s not even a verb, it’s an adjective</a:t>
            </a:r>
          </a:p>
          <a:p>
            <a:pPr lvl="1"/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project</a:t>
            </a:r>
            <a:r>
              <a:rPr lang="en-US" dirty="0"/>
              <a:t> is an implicit area, an argument name, and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project-reference</a:t>
            </a:r>
            <a:endParaRPr lang="en-US" sz="1600" dirty="0">
              <a:solidFill>
                <a:schemeClr val="accent5">
                  <a:lumMod val="75000"/>
                </a:schemeClr>
              </a:solidFill>
              <a:latin typeface="Cascadia Code" panose="020B0609020000020004" pitchFamily="49" charset="0"/>
              <a:ea typeface="+mj-ea"/>
              <a:cs typeface="Cascadia Code" panose="020B0609020000020004" pitchFamily="49" charset="0"/>
            </a:endParaRPr>
          </a:p>
          <a:p>
            <a:pPr lvl="1"/>
            <a:r>
              <a:rPr lang="en-US" dirty="0"/>
              <a:t>For a long time it was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dotnet project add </a:t>
            </a:r>
            <a:r>
              <a:rPr lang="en-US" dirty="0"/>
              <a:t>and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dotnet add package </a:t>
            </a:r>
            <a:r>
              <a:rPr lang="en-US" dirty="0"/>
              <a:t>(fixed)</a:t>
            </a:r>
            <a:br>
              <a:rPr lang="en-US" dirty="0"/>
            </a:br>
            <a:r>
              <a:rPr lang="en-US" dirty="0"/>
              <a:t>This was fixed by supporting both, but hiding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add package </a:t>
            </a:r>
            <a:r>
              <a:rPr lang="en-US" dirty="0"/>
              <a:t>in </a:t>
            </a:r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ascadia Code" panose="020B0609020000020004" pitchFamily="49" charset="0"/>
                <a:ea typeface="+mj-ea"/>
                <a:cs typeface="Cascadia Code" panose="020B0609020000020004" pitchFamily="49" charset="0"/>
              </a:rPr>
              <a:t>dotnet -h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4299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51721-EEB6-C940-AA54-9D3DE9FE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</a:t>
            </a:r>
            <a:r>
              <a:rPr lang="en-US" sz="2800" dirty="0"/>
              <a:t>(or at least what I’m building)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5FB95-0726-1FA6-82EB-7F2BCEA6E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Common semantic CLI models will empower CLIs</a:t>
            </a:r>
          </a:p>
          <a:p>
            <a:r>
              <a:rPr lang="en-US" sz="2400" dirty="0"/>
              <a:t>Plug-in features</a:t>
            </a:r>
          </a:p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o</a:t>
            </a:r>
            <a:r>
              <a:rPr lang="en-US" sz="2400" b="1" dirty="0">
                <a:solidFill>
                  <a:schemeClr val="accent6"/>
                </a:solidFill>
              </a:rPr>
              <a:t>l</a:t>
            </a:r>
            <a:r>
              <a:rPr lang="en-US" sz="2400" b="1" dirty="0">
                <a:solidFill>
                  <a:srgbClr val="7030A0"/>
                </a:solidFill>
              </a:rPr>
              <a:t>o</a:t>
            </a:r>
            <a:r>
              <a:rPr lang="en-US" sz="2400" b="1" dirty="0">
                <a:solidFill>
                  <a:srgbClr val="FF0000"/>
                </a:solidFill>
              </a:rPr>
              <a:t>r </a:t>
            </a:r>
            <a:r>
              <a:rPr lang="en-US" sz="2400" dirty="0"/>
              <a:t>(while respecting ANSI colors/themes) and better help and output</a:t>
            </a:r>
          </a:p>
          <a:p>
            <a:r>
              <a:rPr lang="en-US" sz="2400" dirty="0"/>
              <a:t>Hybrid tab completion combining perf and flexibility (like NuGet packages)</a:t>
            </a:r>
          </a:p>
          <a:p>
            <a:r>
              <a:rPr lang="en-US" sz="2400" dirty="0"/>
              <a:t>Web based replacement for man pages automatically created</a:t>
            </a:r>
          </a:p>
          <a:p>
            <a:r>
              <a:rPr lang="en-US" sz="2400" dirty="0"/>
              <a:t>Lazy command definitions</a:t>
            </a:r>
          </a:p>
          <a:p>
            <a:r>
              <a:rPr lang="en-US" sz="2400" dirty="0"/>
              <a:t>Reusable </a:t>
            </a:r>
            <a:r>
              <a:rPr lang="en-US" sz="2400"/>
              <a:t>help descriptions</a:t>
            </a:r>
            <a:endParaRPr lang="en-US" sz="24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465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4536</TotalTime>
  <Words>1311</Words>
  <Application>Microsoft Office PowerPoint</Application>
  <PresentationFormat>Widescreen</PresentationFormat>
  <Paragraphs>182</Paragraphs>
  <Slides>23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Cascadia Code</vt:lpstr>
      <vt:lpstr>Consolas</vt:lpstr>
      <vt:lpstr>Office Theme</vt:lpstr>
      <vt:lpstr>Creating great CLIs</vt:lpstr>
      <vt:lpstr>PowerPoint Presentation</vt:lpstr>
      <vt:lpstr>Agenda</vt:lpstr>
      <vt:lpstr>Resources</vt:lpstr>
      <vt:lpstr>Use POSIX standard</vt:lpstr>
      <vt:lpstr>Do not write a CLI parser!</vt:lpstr>
      <vt:lpstr>CLIs can never change, but can be extended</vt:lpstr>
      <vt:lpstr>Respect stdout and stderr</vt:lpstr>
      <vt:lpstr>Help is essential</vt:lpstr>
      <vt:lpstr>Isolate your parser</vt:lpstr>
      <vt:lpstr>Be careful with prompts</vt:lpstr>
      <vt:lpstr>Follow style and ecosystem traditions</vt:lpstr>
      <vt:lpstr>stderr and stdout have different purposes </vt:lpstr>
      <vt:lpstr>Syntax building blocks</vt:lpstr>
      <vt:lpstr>CLI as Domain Specific Language</vt:lpstr>
      <vt:lpstr>Noun/Verb?</vt:lpstr>
      <vt:lpstr>Noun/Verb? (cont’d)</vt:lpstr>
      <vt:lpstr>A very imperfect CLI: git</vt:lpstr>
      <vt:lpstr>PowerPoint Presentation</vt:lpstr>
      <vt:lpstr>Design questions to ask Base answers on where you want your app to be in five years Invest brainstorming effort on this early</vt:lpstr>
      <vt:lpstr>Getting the details right</vt:lpstr>
      <vt:lpstr>Imperfect CLIs</vt:lpstr>
      <vt:lpstr>Future (or at least what I’m building)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Kathleen Dollard</dc:creator>
  <cp:lastModifiedBy>Kathleen Dollard</cp:lastModifiedBy>
  <cp:revision>3</cp:revision>
  <dcterms:created xsi:type="dcterms:W3CDTF">2026-10-21T11:40:31Z</dcterms:created>
  <dcterms:modified xsi:type="dcterms:W3CDTF">2026-10-26T21:30:03Z</dcterms:modified>
</cp:coreProperties>
</file>